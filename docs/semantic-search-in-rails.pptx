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Bricolage Grotesque" panose="020B0605040402000204" pitchFamily="34" charset="0"/>
      <p:regular r:id="rId18"/>
      <p:bold r:id="rId19"/>
    </p:embeddedFont>
    <p:embeddedFont>
      <p:font typeface="Instrument Sans" pitchFamily="2" charset="0"/>
      <p:regular r:id="rId20"/>
      <p:bold r:id="rId21"/>
    </p:embeddedFont>
    <p:embeddedFont>
      <p:font typeface="JetBrains Mono" panose="02000009000000000000" pitchFamily="49"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53"/>
    <p:restoredTop sz="94610"/>
  </p:normalViewPr>
  <p:slideViewPr>
    <p:cSldViewPr snapToGrid="0" snapToObjects="1">
      <p:cViewPr varScale="1">
        <p:scale>
          <a:sx n="155" d="100"/>
          <a:sy n="155" d="100"/>
        </p:scale>
        <p:origin x="33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9861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30 seconds. Set the frame: in the next twenty minutes we build search that understands questions, using only Postgres and a Rails app, and then we break it on purpose and measure it. Everything runs locally: no API keys, no cloud service. The picture on the right is the whole talk in one image: every dot is a passage from the Rails Guides, colored by topic; the white dot is a question, and the lines connect it to its nearest passages. That’s semantic search.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90 seconds. Read the dark card out loud, the way a developer would type it. Then the white card: that’s how the Rails Guides describe it, under Transaction Callbacks, with after_commit. Same idea, almost no words in common. Postgres full-text search with plainto_tsquery requires every word to match, so it returns zero results. Ask the room how many phrasings they try before giving up on docs search.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90 seconds. Top: this is the real call in the Rails console. Embedder.call runs a small model, all-MiniLM-L6-v2, on the laptop and returns 384 numbers; the strip shows 64 of them as colors. The numbers on screen are illustrative; in rehearsal, run it and paste your real output. Those numbers are a position. Bottom: a two-dimensional cartoon of that 384-dimension space. Every passage from the Guides is a dot, colored by topic, and dots about the same topic sit together. Our question gets a dot too, the dark one, and it lands inside the callbacks group even though it shares almost no words with those passages. Search becomes “find the nearest dots”.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90 seconds. Left: every embedding is an arrow from the same origin. The dark arrow is the question, “how do I email a user?”. Action Mailer Basics, in blue, points almost the same way; deliver_later, in amber, a bit further; Active Record Migrations, dashed grey, points far away. Right: the same idea as numbers. Similarity is the cosine of the angle: 1 means same direction, 0 means unrelated, and distance is one minus that. These are the top five results for the question, ranked. The dashed line is the cutoff: bars that don’t reach it are rejected, so the callbacks and migrations passages are filtered out even though they were in the top five. The scores are illustrative; in rehearsal, swap in the real ones from the demo app, and the cutoff comes from calibration.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75 seconds. This is a normal Postgres table: guide, heading, and one more column holding each passage’s 384 numbers. The table shows the first three of each; the values are illustrative. That’s the whole storage story. pgvector is a Postgres extension that adds the vector type and distance operators. The neighbor gem gives Active Record has_neighbors and nearest_neighbors. informers runs the embedding model locally through ONNX Runtime, downloaded once and offline after that. No new database, no new service. The search is one line: embed the question with the same model, then order by cosine distance.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60 seconds. The whole system on one slide, in order, with the file that does each step. Chunk: a plain Ruby service splits each guide by heading. Embed: an Active Job turns each chunk into a vector. Store: a normal table with a vector column. Search, the dark card because it’s what users touch: embed the question with the same model and order by distance. The data is a shallow git clone of the Rails repo, reading guides/source.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90 seconds. One question, one piece of the Guides, three ways to cut it. Too long: the chunk starts with the callbacks overview and the after_commit sentence only shows up near the end; the model reads the first 256 tokens and silently ignores the rest, so the answer never makes it into the vector. Too short: the chunk is just “it runs once the transaction is committed”, and the sentence that named after_commit ended up in a different chunk, so this one has no subject. Just right: one section, one whole idea, with its heading, and it matches the question. That’s why the chunker splits at headings first and then packs paragraphs up to 150 words. The texts on screen paraphrase the Guides to keep them short.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45 seconds. Each card is one class method on Chunk, against the same rows. Keyword is plain Postgres full-text search and wins when people type exact names like after_commit. Vector finds meaning and wins on questions in their own words. Real users do both, so production search usually runs both and merges the two rankings; that’s why hybrid gets the big card. If someone asks how the merge works: reciprocal rank fusion, where each result scores by its rank in each list and the scores add up. The demo page shows these three columns side by side.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60 seconds. The same three strategies from the previous slide, as the code in app/models/concerns/chunk_search.rb, slightly trimmed for the screen (the real keyword query also searches the guide name and heading, and orders by rank). Keyword is one where clause with Postgres full-text search. Vector is one nearest_neighbors call: embed the question with the same model, order by cosine distance. Hybrid runs both and adds up a score per chunk: one over sixty plus its rank in each list. A chunk that ranks well in either list, or decently in both, ends up on top. That’s reciprocal rank fusion, and it’s six lines of plain Ruby.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5 minutes, following docs/DEMO.md. One: ask the hook question; keyword is empty, vector finds the callbacks guide. Two: search an exact term like after_commit and point at hybrid keeping it on top. Three: click 30 words with the same question and show the results lose context; click back. Four: ask how to configure Phoenix LiveView in Rails; the verdict says not covered, and the dot sits past the cutoff, while the vector column still returns five passages. Five: in the terminal, run the eval for 150-word chunks, then 30. If anything fails, play the recording and narrate over it.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45 seconds, as a recap of demo step four. This is the moment most RAG demos never show. Nearest-neighbor search has no notion of “nothing relevant”; it returns the closest rows, however far. A distance cutoff, the one comparison in the white box, turns that into a decision the app can act on. The value is calibrated: run the golden in-scope and out-of-scope questions, look at the real distances, and put the line between the two groups. Too strict and real questions get rejected; the eval checks both sides.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90 seconds, with demo step five live in the terminal: run bin/rails test test/evals, then CHUNK_VARIANT=w30 bin/rails test test/evals. The golden set is thirteen real Rails questions, each with the guides that would be an acceptable source, plus three out-of-scope questions that must get no answer. It measures retrieval only, not a generated answer. Floors sit just below the baseline, so a real regression fails CI and noise doesn’t. The output here is abbreviated; fill in the percentages from your rehearsal run before the talk.</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60 seconds. Everything we built today is the first half of RAG, retrieval-augmented generation: take the question, retrieve the best chunks, apply the cutoff. RAG adds one step: paste those chunks into a prompt with the question, and ask an LLM to answer using only them, citing the guide and heading. In Rails that’s three lines, for example with RubyLLM (check its docs for the exact API). Two things carry over directly from this talk. Chunk quality: each chunk must read well on its own, because the LLM sees it out of context. And the cutoff: without it, the LLM gets five irrelevant passages and writes a confident wrong answer; with it, zero chunks means it can say “not in the Guides”. That’s why retrieval comes first.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About 60 seconds. Lead with the big line: you can add semantic search to an existing Rails app this week without adopting a new database. The two smaller points are what separate a demo from something you can ship: treat chunking and the cutoff as decisions with consequences, and put a test around them before you tune anything.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MX"/>
          </a:p>
        </p:txBody>
      </p:sp>
      <p:sp>
        <p:nvSpPr>
          <p:cNvPr id="3" name="Notes Placeholder 2"/>
          <p:cNvSpPr>
            <a:spLocks noGrp="1"/>
          </p:cNvSpPr>
          <p:nvPr>
            <p:ph type="body" idx="1"/>
          </p:nvPr>
        </p:nvSpPr>
        <p:spPr/>
        <p:txBody>
          <a:bodyPr/>
          <a:lstStyle/>
          <a:p>
            <a:r>
              <a:rPr lang="en-US" dirty="0"/>
              <a:t>Open floor. Likely questions and short answers. Which model? all-MiniLM-L6-v2, small and local; swap the Embedder class for a hosted model and re-run ingestion, the content hash re-embeds everything. Cost? Zero here; it runs on a laptop. Multi-tenant? Filter by account in the same query, and test filtered queries once you add an index. Where’s the LLM? Out of scope today; generation is only as good as retrieval, so retrieval comes first.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5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6710"/>
          </a:xfrm>
          <a:prstGeom prst="rect">
            <a:avLst/>
          </a:prstGeom>
          <a:noFill/>
          <a:ln/>
        </p:spPr>
        <p:txBody>
          <a:bodyPr wrap="square" lIns="0" tIns="0" rIns="0" bIns="0" rtlCol="0" anchor="t"/>
          <a:lstStyle>
            <a:lvl1pPr marL="0" indent="0" algn="l">
              <a:lnSpc>
                <a:spcPct val="115000"/>
              </a:lnSpc>
              <a:buNone/>
              <a:defRPr lang="en-US" sz="3800" dirty="0">
                <a:solidFill>
                  <a:srgbClr val="0D1117"/>
                </a:solidFill>
                <a:latin typeface="Bricolage Grotesque" pitchFamily="34" charset="0"/>
                <a:ea typeface="Bricolage Grotesque" pitchFamily="34" charset="-122"/>
                <a:cs typeface="Bricolage Grotesque"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624310"/>
            <a:ext cx="10566400" cy="4420890"/>
          </a:xfrm>
          <a:prstGeom prst="rect">
            <a:avLst/>
          </a:prstGeom>
          <a:noFill/>
          <a:ln/>
        </p:spPr>
        <p:txBody>
          <a:bodyPr wrap="square" lIns="0" tIns="0" rIns="0" bIns="0" rtlCol="0" anchor="t"/>
          <a:lstStyle>
            <a:lvl1pPr marL="0" indent="0" algn="l">
              <a:lnSpc>
                <a:spcPct val="140000"/>
              </a:lnSpc>
              <a:buNone/>
              <a:defRPr lang="en-US" sz="1600" dirty="0">
                <a:solidFill>
                  <a:srgbClr val="0D1117"/>
                </a:solidFill>
                <a:latin typeface="Instrument Sans" pitchFamily="34" charset="0"/>
                <a:ea typeface="Instrument Sans" pitchFamily="34" charset="-122"/>
                <a:cs typeface="Instrument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5F6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812800"/>
            <a:ext cx="10566400" cy="506710"/>
          </a:xfrm>
          <a:prstGeom prst="rect">
            <a:avLst/>
          </a:prstGeom>
          <a:noFill/>
          <a:ln/>
        </p:spPr>
        <p:txBody>
          <a:bodyPr wrap="square" lIns="0" tIns="0" rIns="0" bIns="0" rtlCol="0" anchor="t"/>
          <a:lstStyle>
            <a:lvl1pPr marL="0" indent="0" algn="l">
              <a:lnSpc>
                <a:spcPct val="115000"/>
              </a:lnSpc>
              <a:buNone/>
              <a:defRPr lang="en-US" sz="3800" dirty="0">
                <a:solidFill>
                  <a:srgbClr val="0D1117"/>
                </a:solidFill>
                <a:latin typeface="Bricolage Grotesque" pitchFamily="34" charset="0"/>
                <a:ea typeface="Bricolage Grotesque" pitchFamily="34" charset="-122"/>
                <a:cs typeface="Bricolage Grotesque" pitchFamily="34" charset="-120"/>
              </a:defRPr>
            </a:lvl1pPr>
          </a:lstStyle>
          <a:p>
            <a:pPr marL="0" indent="0" algn="l">
              <a:lnSpc>
                <a:spcPct val="115000"/>
              </a:lnSpc>
              <a:buNone/>
            </a:pPr>
            <a:endParaRPr lang="en-US" sz="3800" dirty="0"/>
          </a:p>
        </p:txBody>
      </p:sp>
      <p:sp>
        <p:nvSpPr>
          <p:cNvPr id="3" name="Text Placeholder 2"/>
          <p:cNvSpPr>
            <a:spLocks noGrp="1"/>
          </p:cNvSpPr>
          <p:nvPr>
            <p:ph type="body" idx="101"/>
          </p:nvPr>
        </p:nvSpPr>
        <p:spPr>
          <a:xfrm>
            <a:off x="812800" y="1624310"/>
            <a:ext cx="10566400" cy="4420890"/>
          </a:xfrm>
          <a:prstGeom prst="rect">
            <a:avLst/>
          </a:prstGeom>
          <a:noFill/>
          <a:ln/>
        </p:spPr>
        <p:txBody>
          <a:bodyPr wrap="square" lIns="0" tIns="0" rIns="0" bIns="0" rtlCol="0" anchor="t"/>
          <a:lstStyle>
            <a:lvl1pPr marL="0" indent="0" algn="l">
              <a:lnSpc>
                <a:spcPct val="140000"/>
              </a:lnSpc>
              <a:buNone/>
              <a:defRPr lang="en-US" sz="1600" dirty="0">
                <a:solidFill>
                  <a:srgbClr val="0D1117"/>
                </a:solidFill>
                <a:latin typeface="Instrument Sans" pitchFamily="34" charset="0"/>
                <a:ea typeface="Instrument Sans" pitchFamily="34" charset="-122"/>
                <a:cs typeface="Instrument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1866900"/>
            <a:ext cx="5755640" cy="1549400"/>
          </a:xfrm>
          <a:prstGeom prst="rect">
            <a:avLst/>
          </a:prstGeom>
          <a:noFill/>
          <a:ln/>
        </p:spPr>
        <p:txBody>
          <a:bodyPr wrap="square" lIns="0" tIns="0" rIns="0" bIns="0" rtlCol="0" anchor="t">
            <a:normAutofit/>
          </a:bodyPr>
          <a:lstStyle/>
          <a:p>
            <a:pPr marL="0" indent="0" algn="l">
              <a:lnSpc>
                <a:spcPts val="6000"/>
              </a:lnSpc>
              <a:buNone/>
            </a:pPr>
            <a:r>
              <a:rPr lang="en-US" sz="6000" b="1" i="0" kern="0" spc="-120" dirty="0">
                <a:solidFill>
                  <a:srgbClr val="F2F4F7"/>
                </a:solidFill>
                <a:latin typeface="Bricolage Grotesque" pitchFamily="34" charset="0"/>
                <a:ea typeface="Bricolage Grotesque" pitchFamily="34" charset="-122"/>
                <a:cs typeface="Bricolage Grotesque" pitchFamily="34" charset="-120"/>
              </a:rPr>
              <a:t>Semantic Search in Rails</a:t>
            </a:r>
            <a:endParaRPr lang="en-US" sz="6000" dirty="0"/>
          </a:p>
        </p:txBody>
      </p:sp>
      <p:sp>
        <p:nvSpPr>
          <p:cNvPr id="3" name="Text 1"/>
          <p:cNvSpPr/>
          <p:nvPr/>
        </p:nvSpPr>
        <p:spPr>
          <a:xfrm>
            <a:off x="812800" y="3619500"/>
            <a:ext cx="5755640" cy="95111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9AA3B2"/>
                </a:solidFill>
                <a:latin typeface="Instrument Sans" pitchFamily="34" charset="0"/>
                <a:ea typeface="Instrument Sans" pitchFamily="34" charset="-122"/>
                <a:cs typeface="Instrument Sans" pitchFamily="34" charset="-120"/>
              </a:rPr>
              <a:t>Searching the Rails Guides by meaning, with Postgres, pgvector and a model that runs on your laptop</a:t>
            </a:r>
            <a:endParaRPr lang="en-US" sz="1800" dirty="0"/>
          </a:p>
        </p:txBody>
      </p:sp>
      <p:sp>
        <p:nvSpPr>
          <p:cNvPr id="4" name="Text 2"/>
          <p:cNvSpPr/>
          <p:nvPr/>
        </p:nvSpPr>
        <p:spPr>
          <a:xfrm>
            <a:off x="812800" y="4773811"/>
            <a:ext cx="57556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7DA2FF"/>
                </a:solidFill>
                <a:latin typeface="JetBrains Mono" pitchFamily="49" charset="0"/>
                <a:ea typeface="JetBrains Mono" pitchFamily="49" charset="-122"/>
                <a:cs typeface="JetBrains Mono" pitchFamily="49" charset="-120"/>
              </a:rPr>
              <a:t>Postgres + pgvector + neighbor + informers</a:t>
            </a:r>
            <a:endParaRPr lang="en-US" sz="1200" dirty="0"/>
          </a:p>
        </p:txBody>
      </p:sp>
      <p:pic>
        <p:nvPicPr>
          <p:cNvPr id="5" name="Image 0"/>
          <p:cNvPicPr>
            <a:picLocks noChangeAspect="1"/>
          </p:cNvPicPr>
          <p:nvPr/>
        </p:nvPicPr>
        <p:blipFill>
          <a:blip r:embed="rId3"/>
          <a:srcRect/>
          <a:stretch/>
        </p:blipFill>
        <p:spPr>
          <a:xfrm>
            <a:off x="6807200" y="114300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Nobody asks in the Guides’ own words</a:t>
            </a:r>
            <a:endParaRPr lang="en-US" sz="3800" dirty="0"/>
          </a:p>
        </p:txBody>
      </p:sp>
      <p:sp>
        <p:nvSpPr>
          <p:cNvPr id="3" name="Shape 1"/>
          <p:cNvSpPr/>
          <p:nvPr/>
        </p:nvSpPr>
        <p:spPr>
          <a:xfrm>
            <a:off x="812800" y="1675110"/>
            <a:ext cx="5943600" cy="1727101"/>
          </a:xfrm>
          <a:prstGeom prst="roundRect">
            <a:avLst>
              <a:gd name="adj" fmla="val 10295"/>
            </a:avLst>
          </a:prstGeom>
          <a:solidFill>
            <a:srgbClr val="0D1117"/>
          </a:solidFill>
          <a:ln/>
        </p:spPr>
        <p:txBody>
          <a:bodyPr/>
          <a:lstStyle/>
          <a:p>
            <a:endParaRPr lang="en-MX"/>
          </a:p>
        </p:txBody>
      </p:sp>
      <p:sp>
        <p:nvSpPr>
          <p:cNvPr id="4" name="Text 2"/>
          <p:cNvSpPr/>
          <p:nvPr/>
        </p:nvSpPr>
        <p:spPr>
          <a:xfrm>
            <a:off x="1117600" y="1979910"/>
            <a:ext cx="549402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AA3B2"/>
                </a:solidFill>
                <a:latin typeface="Instrument Sans" pitchFamily="34" charset="0"/>
                <a:ea typeface="Instrument Sans" pitchFamily="34" charset="-122"/>
                <a:cs typeface="Instrument Sans" pitchFamily="34" charset="-120"/>
              </a:rPr>
              <a:t>You type</a:t>
            </a:r>
            <a:endParaRPr lang="en-US" sz="1300" dirty="0"/>
          </a:p>
        </p:txBody>
      </p:sp>
      <p:sp>
        <p:nvSpPr>
          <p:cNvPr id="5" name="Text 3"/>
          <p:cNvSpPr/>
          <p:nvPr/>
        </p:nvSpPr>
        <p:spPr>
          <a:xfrm>
            <a:off x="1117600" y="2337991"/>
            <a:ext cx="5494020" cy="784820"/>
          </a:xfrm>
          <a:prstGeom prst="rect">
            <a:avLst/>
          </a:prstGeom>
          <a:noFill/>
          <a:ln/>
        </p:spPr>
        <p:txBody>
          <a:bodyPr wrap="square" lIns="0" tIns="0" rIns="0" bIns="0" rtlCol="0" anchor="t">
            <a:normAutofit/>
          </a:bodyPr>
          <a:lstStyle/>
          <a:p>
            <a:pPr marL="0" indent="0" algn="l">
              <a:lnSpc>
                <a:spcPts val="2990"/>
              </a:lnSpc>
              <a:buNone/>
            </a:pPr>
            <a:r>
              <a:rPr lang="en-US" sz="2600" b="1" dirty="0">
                <a:solidFill>
                  <a:srgbClr val="F2F4F7"/>
                </a:solidFill>
                <a:latin typeface="Bricolage Grotesque" pitchFamily="34" charset="0"/>
                <a:ea typeface="Bricolage Grotesque" pitchFamily="34" charset="-122"/>
                <a:cs typeface="Bricolage Grotesque" pitchFamily="34" charset="-120"/>
              </a:rPr>
              <a:t>“do something once a record is saved for good”</a:t>
            </a:r>
            <a:endParaRPr lang="en-US" sz="2600" dirty="0"/>
          </a:p>
        </p:txBody>
      </p:sp>
      <p:sp>
        <p:nvSpPr>
          <p:cNvPr id="6" name="Shape 4"/>
          <p:cNvSpPr/>
          <p:nvPr/>
        </p:nvSpPr>
        <p:spPr>
          <a:xfrm>
            <a:off x="6959600" y="1675110"/>
            <a:ext cx="4419600" cy="1727101"/>
          </a:xfrm>
          <a:prstGeom prst="roundRect">
            <a:avLst>
              <a:gd name="adj" fmla="val 10295"/>
            </a:avLst>
          </a:prstGeom>
          <a:solidFill>
            <a:srgbClr val="FFFFFF"/>
          </a:solidFill>
          <a:ln/>
        </p:spPr>
        <p:txBody>
          <a:bodyPr/>
          <a:lstStyle/>
          <a:p>
            <a:endParaRPr lang="en-MX"/>
          </a:p>
        </p:txBody>
      </p:sp>
      <p:sp>
        <p:nvSpPr>
          <p:cNvPr id="7" name="Text 5"/>
          <p:cNvSpPr/>
          <p:nvPr/>
        </p:nvSpPr>
        <p:spPr>
          <a:xfrm>
            <a:off x="7264400" y="1979910"/>
            <a:ext cx="392430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383"/>
                </a:solidFill>
                <a:latin typeface="Instrument Sans" pitchFamily="34" charset="0"/>
                <a:ea typeface="Instrument Sans" pitchFamily="34" charset="-122"/>
                <a:cs typeface="Instrument Sans" pitchFamily="34" charset="-120"/>
              </a:rPr>
              <a:t>The Rails Guides say</a:t>
            </a:r>
            <a:endParaRPr lang="en-US" sz="1300" dirty="0"/>
          </a:p>
        </p:txBody>
      </p:sp>
      <p:sp>
        <p:nvSpPr>
          <p:cNvPr id="8" name="Text 6"/>
          <p:cNvSpPr/>
          <p:nvPr/>
        </p:nvSpPr>
        <p:spPr>
          <a:xfrm>
            <a:off x="7264400" y="2337991"/>
            <a:ext cx="3924300" cy="346670"/>
          </a:xfrm>
          <a:prstGeom prst="rect">
            <a:avLst/>
          </a:prstGeom>
          <a:noFill/>
          <a:ln/>
        </p:spPr>
        <p:txBody>
          <a:bodyPr wrap="square" lIns="0" tIns="0" rIns="0" bIns="0" rtlCol="0" anchor="t">
            <a:normAutofit/>
          </a:bodyPr>
          <a:lstStyle/>
          <a:p>
            <a:pPr marL="0" indent="0" algn="l">
              <a:lnSpc>
                <a:spcPts val="2530"/>
              </a:lnSpc>
              <a:buNone/>
            </a:pPr>
            <a:r>
              <a:rPr lang="en-US" sz="2200" b="1" dirty="0">
                <a:solidFill>
                  <a:srgbClr val="0D1117"/>
                </a:solidFill>
                <a:latin typeface="Bricolage Grotesque" pitchFamily="34" charset="0"/>
                <a:ea typeface="Bricolage Grotesque" pitchFamily="34" charset="-122"/>
                <a:cs typeface="Bricolage Grotesque" pitchFamily="34" charset="-120"/>
              </a:rPr>
              <a:t>Transaction Callbacks</a:t>
            </a:r>
            <a:endParaRPr lang="en-US" sz="2200" dirty="0"/>
          </a:p>
        </p:txBody>
      </p:sp>
      <p:sp>
        <p:nvSpPr>
          <p:cNvPr id="9" name="Text 7"/>
          <p:cNvSpPr/>
          <p:nvPr/>
        </p:nvSpPr>
        <p:spPr>
          <a:xfrm>
            <a:off x="7264400" y="2786261"/>
            <a:ext cx="3924300"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2A5BFF"/>
                </a:solidFill>
                <a:latin typeface="JetBrains Mono" pitchFamily="49" charset="0"/>
                <a:ea typeface="JetBrains Mono" pitchFamily="49" charset="-122"/>
                <a:cs typeface="JetBrains Mono" pitchFamily="49" charset="-120"/>
              </a:rPr>
              <a:t>after_commit</a:t>
            </a:r>
            <a:endParaRPr lang="en-US" sz="1700" dirty="0"/>
          </a:p>
        </p:txBody>
      </p:sp>
      <p:sp>
        <p:nvSpPr>
          <p:cNvPr id="10" name="Text 8"/>
          <p:cNvSpPr/>
          <p:nvPr/>
        </p:nvSpPr>
        <p:spPr>
          <a:xfrm>
            <a:off x="812800" y="3757811"/>
            <a:ext cx="2370420" cy="807641"/>
          </a:xfrm>
          <a:prstGeom prst="rect">
            <a:avLst/>
          </a:prstGeom>
          <a:noFill/>
          <a:ln/>
        </p:spPr>
        <p:txBody>
          <a:bodyPr wrap="none" lIns="0" tIns="0" rIns="0" bIns="0" rtlCol="0" anchor="t">
            <a:normAutofit/>
          </a:bodyPr>
          <a:lstStyle/>
          <a:p>
            <a:pPr marL="0" indent="0" algn="l">
              <a:lnSpc>
                <a:spcPts val="6160"/>
              </a:lnSpc>
              <a:buNone/>
            </a:pPr>
            <a:r>
              <a:rPr lang="en-US" sz="4400" b="1" kern="0" spc="-90" dirty="0">
                <a:solidFill>
                  <a:srgbClr val="2A5BFF"/>
                </a:solidFill>
                <a:latin typeface="Bricolage Grotesque" pitchFamily="34" charset="0"/>
                <a:ea typeface="Bricolage Grotesque" pitchFamily="34" charset="-122"/>
                <a:cs typeface="Bricolage Grotesque" pitchFamily="34" charset="-120"/>
              </a:rPr>
              <a:t>0 results</a:t>
            </a:r>
            <a:endParaRPr lang="en-US" sz="4400" dirty="0"/>
          </a:p>
        </p:txBody>
      </p:sp>
      <p:sp>
        <p:nvSpPr>
          <p:cNvPr id="11" name="Text 9"/>
          <p:cNvSpPr/>
          <p:nvPr/>
        </p:nvSpPr>
        <p:spPr>
          <a:xfrm>
            <a:off x="3368179" y="4001591"/>
            <a:ext cx="8823821" cy="31998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B4250"/>
                </a:solidFill>
                <a:latin typeface="Instrument Sans" pitchFamily="34" charset="0"/>
                <a:ea typeface="Instrument Sans" pitchFamily="34" charset="-122"/>
                <a:cs typeface="Instrument Sans" pitchFamily="34" charset="-120"/>
              </a:rPr>
              <a:t>from keyword search, because it needs every word of the question in one passage.</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An embedding is a point on a map</a:t>
            </a:r>
            <a:endParaRPr lang="en-US" sz="3800" dirty="0"/>
          </a:p>
        </p:txBody>
      </p:sp>
      <p:sp>
        <p:nvSpPr>
          <p:cNvPr id="3" name="Shape 1"/>
          <p:cNvSpPr/>
          <p:nvPr/>
        </p:nvSpPr>
        <p:spPr>
          <a:xfrm>
            <a:off x="812800" y="1548110"/>
            <a:ext cx="10566400" cy="1955800"/>
          </a:xfrm>
          <a:prstGeom prst="roundRect">
            <a:avLst>
              <a:gd name="adj" fmla="val 9091"/>
            </a:avLst>
          </a:prstGeom>
          <a:solidFill>
            <a:srgbClr val="0D1117"/>
          </a:solidFill>
          <a:ln/>
        </p:spPr>
        <p:txBody>
          <a:bodyPr/>
          <a:lstStyle/>
          <a:p>
            <a:endParaRPr lang="en-MX"/>
          </a:p>
        </p:txBody>
      </p:sp>
      <p:sp>
        <p:nvSpPr>
          <p:cNvPr id="4" name="Text 2"/>
          <p:cNvSpPr/>
          <p:nvPr/>
        </p:nvSpPr>
        <p:spPr>
          <a:xfrm>
            <a:off x="1066800" y="1751310"/>
            <a:ext cx="10360152" cy="101600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9AA3B2"/>
                </a:solidFill>
                <a:latin typeface="JetBrains Mono" pitchFamily="49" charset="0"/>
                <a:ea typeface="JetBrains Mono" pitchFamily="49" charset="-122"/>
                <a:cs typeface="JetBrains Mono" pitchFamily="49" charset="-120"/>
              </a:rPr>
              <a:t>$</a:t>
            </a:r>
            <a:r>
              <a:rPr lang="en-US" sz="1300" dirty="0">
                <a:solidFill>
                  <a:srgbClr val="F2F4F7"/>
                </a:solidFill>
                <a:latin typeface="JetBrains Mono" pitchFamily="49" charset="0"/>
                <a:ea typeface="JetBrains Mono" pitchFamily="49" charset="-122"/>
                <a:cs typeface="JetBrains Mono" pitchFamily="49" charset="-120"/>
              </a:rPr>
              <a:t> bin/rails console</a:t>
            </a:r>
            <a:endParaRPr lang="en-US" sz="1300" dirty="0"/>
          </a:p>
          <a:p>
            <a:pPr marL="0" indent="0" algn="l">
              <a:lnSpc>
                <a:spcPts val="1950"/>
              </a:lnSpc>
              <a:buNone/>
            </a:pPr>
            <a:r>
              <a:rPr lang="en-US" sz="1300" dirty="0">
                <a:solidFill>
                  <a:srgbClr val="9AA3B2"/>
                </a:solidFill>
                <a:latin typeface="JetBrains Mono" pitchFamily="49" charset="0"/>
                <a:ea typeface="JetBrains Mono" pitchFamily="49" charset="-122"/>
                <a:cs typeface="JetBrains Mono" pitchFamily="49" charset="-120"/>
              </a:rPr>
              <a:t>semantic_search(dev)&gt;</a:t>
            </a:r>
            <a:r>
              <a:rPr lang="en-US" sz="1300" dirty="0">
                <a:solidFill>
                  <a:srgbClr val="F2F4F7"/>
                </a:solidFill>
                <a:latin typeface="JetBrains Mono" pitchFamily="49" charset="0"/>
                <a:ea typeface="JetBrains Mono" pitchFamily="49" charset="-122"/>
                <a:cs typeface="JetBrains Mono" pitchFamily="49" charset="-120"/>
              </a:rPr>
              <a:t> Embedder.call(</a:t>
            </a:r>
            <a:r>
              <a:rPr lang="en-US" sz="1300" dirty="0">
                <a:solidFill>
                  <a:srgbClr val="6FD6C4"/>
                </a:solidFill>
                <a:latin typeface="JetBrains Mono" pitchFamily="49" charset="0"/>
                <a:ea typeface="JetBrains Mono" pitchFamily="49" charset="-122"/>
                <a:cs typeface="JetBrains Mono" pitchFamily="49" charset="-120"/>
              </a:rPr>
              <a:t>"do something once a record is saved for good"</a:t>
            </a:r>
            <a:r>
              <a:rPr lang="en-US" sz="1300" dirty="0">
                <a:solidFill>
                  <a:srgbClr val="F2F4F7"/>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r>
              <a:rPr lang="en-US" sz="1300" dirty="0">
                <a:solidFill>
                  <a:srgbClr val="7DA2FF"/>
                </a:solidFill>
                <a:latin typeface="JetBrains Mono" pitchFamily="49" charset="0"/>
                <a:ea typeface="JetBrains Mono" pitchFamily="49" charset="-122"/>
                <a:cs typeface="JetBrains Mono" pitchFamily="49" charset="-120"/>
              </a:rPr>
              <a:t>=&gt; [0.0213, -0.1131, 0.0874, … 381 more]</a:t>
            </a:r>
            <a:endParaRPr lang="en-US" sz="1300" dirty="0"/>
          </a:p>
          <a:p>
            <a:pPr marL="0" indent="0" algn="l">
              <a:lnSpc>
                <a:spcPts val="1950"/>
              </a:lnSpc>
              <a:buNone/>
            </a:pPr>
            <a:r>
              <a:rPr lang="en-US" sz="1300" dirty="0">
                <a:solidFill>
                  <a:srgbClr val="9AA3B2"/>
                </a:solidFill>
                <a:latin typeface="JetBrains Mono" pitchFamily="49" charset="0"/>
                <a:ea typeface="JetBrains Mono" pitchFamily="49" charset="-122"/>
                <a:cs typeface="JetBrains Mono" pitchFamily="49" charset="-120"/>
              </a:rPr>
              <a:t># 64 of them as colors: blue is positive, coral is negative</a:t>
            </a:r>
            <a:endParaRPr lang="en-US" sz="1300" dirty="0"/>
          </a:p>
        </p:txBody>
      </p:sp>
      <p:pic>
        <p:nvPicPr>
          <p:cNvPr id="5" name="Image 0"/>
          <p:cNvPicPr>
            <a:picLocks noChangeAspect="1"/>
          </p:cNvPicPr>
          <p:nvPr/>
        </p:nvPicPr>
        <p:blipFill>
          <a:blip r:embed="rId3"/>
          <a:srcRect t="-22" b="-22"/>
          <a:stretch/>
        </p:blipFill>
        <p:spPr>
          <a:xfrm>
            <a:off x="1066800" y="2843510"/>
            <a:ext cx="9550400" cy="457200"/>
          </a:xfrm>
          <a:prstGeom prst="rect">
            <a:avLst/>
          </a:prstGeom>
        </p:spPr>
      </p:pic>
      <p:pic>
        <p:nvPicPr>
          <p:cNvPr id="6" name="Image 1"/>
          <p:cNvPicPr>
            <a:picLocks noChangeAspect="1"/>
          </p:cNvPicPr>
          <p:nvPr/>
        </p:nvPicPr>
        <p:blipFill>
          <a:blip r:embed="rId4"/>
          <a:srcRect t="-31" b="-31"/>
          <a:stretch/>
        </p:blipFill>
        <p:spPr>
          <a:xfrm>
            <a:off x="812800" y="3732510"/>
            <a:ext cx="10566400" cy="1905000"/>
          </a:xfrm>
          <a:prstGeom prst="rect">
            <a:avLst/>
          </a:prstGeom>
        </p:spPr>
      </p:pic>
      <p:sp>
        <p:nvSpPr>
          <p:cNvPr id="7" name="Text 3"/>
          <p:cNvSpPr/>
          <p:nvPr/>
        </p:nvSpPr>
        <p:spPr>
          <a:xfrm>
            <a:off x="1765300" y="532001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2A5BFF"/>
                </a:solidFill>
                <a:latin typeface="Instrument Sans" pitchFamily="34" charset="0"/>
                <a:ea typeface="Instrument Sans" pitchFamily="34" charset="-122"/>
                <a:cs typeface="Instrument Sans" pitchFamily="34" charset="-120"/>
              </a:rPr>
              <a:t>Callbacks</a:t>
            </a:r>
            <a:endParaRPr lang="en-US" sz="1300" dirty="0"/>
          </a:p>
        </p:txBody>
      </p:sp>
      <p:sp>
        <p:nvSpPr>
          <p:cNvPr id="8" name="Text 4"/>
          <p:cNvSpPr/>
          <p:nvPr/>
        </p:nvSpPr>
        <p:spPr>
          <a:xfrm>
            <a:off x="3606800" y="459611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D1117"/>
                </a:solidFill>
                <a:latin typeface="Instrument Sans" pitchFamily="34" charset="0"/>
                <a:ea typeface="Instrument Sans" pitchFamily="34" charset="-122"/>
                <a:cs typeface="Instrument Sans" pitchFamily="34" charset="-120"/>
              </a:rPr>
              <a:t>Your question</a:t>
            </a:r>
            <a:endParaRPr lang="en-US" sz="1300" dirty="0"/>
          </a:p>
        </p:txBody>
      </p:sp>
      <p:sp>
        <p:nvSpPr>
          <p:cNvPr id="9" name="Text 5"/>
          <p:cNvSpPr/>
          <p:nvPr/>
        </p:nvSpPr>
        <p:spPr>
          <a:xfrm>
            <a:off x="5702300" y="405001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C98200"/>
                </a:solidFill>
                <a:latin typeface="Instrument Sans" pitchFamily="34" charset="0"/>
                <a:ea typeface="Instrument Sans" pitchFamily="34" charset="-122"/>
                <a:cs typeface="Instrument Sans" pitchFamily="34" charset="-120"/>
              </a:rPr>
              <a:t>Mailers</a:t>
            </a:r>
            <a:endParaRPr lang="en-US" sz="1300" dirty="0"/>
          </a:p>
        </p:txBody>
      </p:sp>
      <p:sp>
        <p:nvSpPr>
          <p:cNvPr id="10" name="Text 6"/>
          <p:cNvSpPr/>
          <p:nvPr/>
        </p:nvSpPr>
        <p:spPr>
          <a:xfrm>
            <a:off x="7607300" y="512951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0E8A7C"/>
                </a:solidFill>
                <a:latin typeface="Instrument Sans" pitchFamily="34" charset="0"/>
                <a:ea typeface="Instrument Sans" pitchFamily="34" charset="-122"/>
                <a:cs typeface="Instrument Sans" pitchFamily="34" charset="-120"/>
              </a:rPr>
              <a:t>Migrations</a:t>
            </a:r>
            <a:endParaRPr lang="en-US" sz="1300" dirty="0"/>
          </a:p>
        </p:txBody>
      </p:sp>
      <p:sp>
        <p:nvSpPr>
          <p:cNvPr id="11" name="Text 7"/>
          <p:cNvSpPr/>
          <p:nvPr/>
        </p:nvSpPr>
        <p:spPr>
          <a:xfrm>
            <a:off x="9067800" y="4494510"/>
            <a:ext cx="1962150" cy="25648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E5492B"/>
                </a:solidFill>
                <a:latin typeface="Instrument Sans" pitchFamily="34" charset="0"/>
                <a:ea typeface="Instrument Sans" pitchFamily="34" charset="-122"/>
                <a:cs typeface="Instrument Sans" pitchFamily="34" charset="-120"/>
              </a:rPr>
              <a:t>Caching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Close in meaning, high score</a:t>
            </a:r>
            <a:endParaRPr lang="en-US" sz="3800" dirty="0"/>
          </a:p>
        </p:txBody>
      </p:sp>
      <p:sp>
        <p:nvSpPr>
          <p:cNvPr id="3" name="Shape 1"/>
          <p:cNvSpPr/>
          <p:nvPr/>
        </p:nvSpPr>
        <p:spPr>
          <a:xfrm>
            <a:off x="812800" y="1573510"/>
            <a:ext cx="5080000" cy="4278511"/>
          </a:xfrm>
          <a:prstGeom prst="roundRect">
            <a:avLst>
              <a:gd name="adj" fmla="val 4156"/>
            </a:avLst>
          </a:prstGeom>
          <a:solidFill>
            <a:srgbClr val="FFFFFF"/>
          </a:solidFill>
          <a:ln/>
        </p:spPr>
        <p:txBody>
          <a:bodyPr/>
          <a:lstStyle/>
          <a:p>
            <a:endParaRPr lang="en-MX"/>
          </a:p>
        </p:txBody>
      </p:sp>
      <p:pic>
        <p:nvPicPr>
          <p:cNvPr id="4" name="Image 0"/>
          <p:cNvPicPr>
            <a:picLocks noChangeAspect="1"/>
          </p:cNvPicPr>
          <p:nvPr/>
        </p:nvPicPr>
        <p:blipFill>
          <a:blip r:embed="rId3"/>
          <a:srcRect/>
          <a:stretch/>
        </p:blipFill>
        <p:spPr>
          <a:xfrm>
            <a:off x="939800" y="1700510"/>
            <a:ext cx="4826000" cy="3810000"/>
          </a:xfrm>
          <a:prstGeom prst="rect">
            <a:avLst/>
          </a:prstGeom>
        </p:spPr>
      </p:pic>
      <p:sp>
        <p:nvSpPr>
          <p:cNvPr id="5" name="Shape 2"/>
          <p:cNvSpPr/>
          <p:nvPr/>
        </p:nvSpPr>
        <p:spPr>
          <a:xfrm>
            <a:off x="6045200" y="1573510"/>
            <a:ext cx="5334000" cy="4278511"/>
          </a:xfrm>
          <a:prstGeom prst="roundRect">
            <a:avLst>
              <a:gd name="adj" fmla="val 4156"/>
            </a:avLst>
          </a:prstGeom>
          <a:solidFill>
            <a:srgbClr val="FFFFFF"/>
          </a:solidFill>
          <a:ln/>
        </p:spPr>
        <p:txBody>
          <a:bodyPr/>
          <a:lstStyle/>
          <a:p>
            <a:endParaRPr lang="en-MX"/>
          </a:p>
        </p:txBody>
      </p:sp>
      <p:sp>
        <p:nvSpPr>
          <p:cNvPr id="6" name="Text 3"/>
          <p:cNvSpPr/>
          <p:nvPr/>
        </p:nvSpPr>
        <p:spPr>
          <a:xfrm>
            <a:off x="6299200" y="1827510"/>
            <a:ext cx="4970780" cy="471091"/>
          </a:xfrm>
          <a:prstGeom prst="rect">
            <a:avLst/>
          </a:prstGeom>
          <a:noFill/>
          <a:ln/>
        </p:spPr>
        <p:txBody>
          <a:bodyPr wrap="square" lIns="0" tIns="0" rIns="0" bIns="0" rtlCol="0" anchor="t">
            <a:normAutofit/>
          </a:bodyPr>
          <a:lstStyle/>
          <a:p>
            <a:pPr marL="0" indent="0" algn="l">
              <a:lnSpc>
                <a:spcPts val="1755"/>
              </a:lnSpc>
              <a:buNone/>
            </a:pPr>
            <a:r>
              <a:rPr lang="en-US" sz="1300" dirty="0">
                <a:solidFill>
                  <a:srgbClr val="3B4250"/>
                </a:solidFill>
                <a:latin typeface="Instrument Sans" pitchFamily="34" charset="0"/>
                <a:ea typeface="Instrument Sans" pitchFamily="34" charset="-122"/>
                <a:cs typeface="Instrument Sans" pitchFamily="34" charset="-120"/>
              </a:rPr>
              <a:t>Top 5 for </a:t>
            </a:r>
            <a:r>
              <a:rPr lang="en-US" sz="1300" b="1" dirty="0">
                <a:solidFill>
                  <a:srgbClr val="3B4250"/>
                </a:solidFill>
                <a:latin typeface="Instrument Sans" pitchFamily="34" charset="0"/>
                <a:ea typeface="Instrument Sans" pitchFamily="34" charset="-122"/>
                <a:cs typeface="Instrument Sans" pitchFamily="34" charset="-120"/>
              </a:rPr>
              <a:t>“how do I email a user?”</a:t>
            </a:r>
            <a:r>
              <a:rPr lang="en-US" sz="1300" dirty="0">
                <a:solidFill>
                  <a:srgbClr val="3B4250"/>
                </a:solidFill>
                <a:latin typeface="Instrument Sans" pitchFamily="34" charset="0"/>
                <a:ea typeface="Instrument Sans" pitchFamily="34" charset="-122"/>
                <a:cs typeface="Instrument Sans" pitchFamily="34" charset="-120"/>
              </a:rPr>
              <a:t> Bars that don’t reach the dashed cutoff are rejected.</a:t>
            </a:r>
            <a:endParaRPr lang="en-US" sz="1300" dirty="0"/>
          </a:p>
        </p:txBody>
      </p:sp>
      <p:sp>
        <p:nvSpPr>
          <p:cNvPr id="7" name="Text 4"/>
          <p:cNvSpPr/>
          <p:nvPr/>
        </p:nvSpPr>
        <p:spPr>
          <a:xfrm>
            <a:off x="6299200" y="2400201"/>
            <a:ext cx="4813808" cy="222250"/>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0D1117"/>
                </a:solidFill>
                <a:latin typeface="Instrument Sans" pitchFamily="34" charset="0"/>
                <a:ea typeface="Instrument Sans" pitchFamily="34" charset="-122"/>
                <a:cs typeface="Instrument Sans" pitchFamily="34" charset="-120"/>
              </a:rPr>
              <a:t>Action Mailer Basics</a:t>
            </a:r>
            <a:endParaRPr lang="en-US" sz="1121" dirty="0"/>
          </a:p>
        </p:txBody>
      </p:sp>
      <p:sp>
        <p:nvSpPr>
          <p:cNvPr id="8" name="Shape 5"/>
          <p:cNvSpPr/>
          <p:nvPr/>
        </p:nvSpPr>
        <p:spPr>
          <a:xfrm>
            <a:off x="6299200" y="2657376"/>
            <a:ext cx="3556000" cy="177800"/>
          </a:xfrm>
          <a:prstGeom prst="roundRect">
            <a:avLst>
              <a:gd name="adj" fmla="val 50000"/>
            </a:avLst>
          </a:prstGeom>
          <a:solidFill>
            <a:srgbClr val="EEF0F4"/>
          </a:solidFill>
          <a:ln/>
        </p:spPr>
        <p:txBody>
          <a:bodyPr/>
          <a:lstStyle/>
          <a:p>
            <a:endParaRPr lang="en-MX"/>
          </a:p>
        </p:txBody>
      </p:sp>
      <p:sp>
        <p:nvSpPr>
          <p:cNvPr id="9" name="Shape 6"/>
          <p:cNvSpPr/>
          <p:nvPr/>
        </p:nvSpPr>
        <p:spPr>
          <a:xfrm>
            <a:off x="6299200" y="2657376"/>
            <a:ext cx="2914650" cy="177800"/>
          </a:xfrm>
          <a:prstGeom prst="roundRect">
            <a:avLst>
              <a:gd name="adj" fmla="val 50000"/>
            </a:avLst>
          </a:prstGeom>
          <a:solidFill>
            <a:srgbClr val="2A5BFF"/>
          </a:solidFill>
          <a:ln/>
        </p:spPr>
        <p:txBody>
          <a:bodyPr/>
          <a:lstStyle/>
          <a:p>
            <a:endParaRPr lang="en-MX"/>
          </a:p>
        </p:txBody>
      </p:sp>
      <p:sp>
        <p:nvSpPr>
          <p:cNvPr id="10" name="Text 7"/>
          <p:cNvSpPr/>
          <p:nvPr/>
        </p:nvSpPr>
        <p:spPr>
          <a:xfrm>
            <a:off x="9956800" y="2639616"/>
            <a:ext cx="4389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1117"/>
                </a:solidFill>
                <a:latin typeface="JetBrains Mono" pitchFamily="49" charset="0"/>
                <a:ea typeface="JetBrains Mono" pitchFamily="49" charset="-122"/>
                <a:cs typeface="JetBrains Mono" pitchFamily="49" charset="-120"/>
              </a:rPr>
              <a:t>0.82</a:t>
            </a:r>
            <a:endParaRPr lang="en-US" sz="1200" dirty="0"/>
          </a:p>
        </p:txBody>
      </p:sp>
      <p:sp>
        <p:nvSpPr>
          <p:cNvPr id="11" name="Text 8"/>
          <p:cNvSpPr/>
          <p:nvPr/>
        </p:nvSpPr>
        <p:spPr>
          <a:xfrm>
            <a:off x="6299200" y="2959001"/>
            <a:ext cx="4813808" cy="222250"/>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0D1117"/>
                </a:solidFill>
                <a:latin typeface="Instrument Sans" pitchFamily="34" charset="0"/>
                <a:ea typeface="Instrument Sans" pitchFamily="34" charset="-122"/>
                <a:cs typeface="Instrument Sans" pitchFamily="34" charset="-120"/>
              </a:rPr>
              <a:t>Active Job, deliver_later</a:t>
            </a:r>
            <a:endParaRPr lang="en-US" sz="1121" dirty="0"/>
          </a:p>
        </p:txBody>
      </p:sp>
      <p:sp>
        <p:nvSpPr>
          <p:cNvPr id="12" name="Shape 9"/>
          <p:cNvSpPr/>
          <p:nvPr/>
        </p:nvSpPr>
        <p:spPr>
          <a:xfrm>
            <a:off x="6299200" y="3216176"/>
            <a:ext cx="3556000" cy="177800"/>
          </a:xfrm>
          <a:prstGeom prst="roundRect">
            <a:avLst>
              <a:gd name="adj" fmla="val 50000"/>
            </a:avLst>
          </a:prstGeom>
          <a:solidFill>
            <a:srgbClr val="EEF0F4"/>
          </a:solidFill>
          <a:ln/>
        </p:spPr>
        <p:txBody>
          <a:bodyPr/>
          <a:lstStyle/>
          <a:p>
            <a:endParaRPr lang="en-MX"/>
          </a:p>
        </p:txBody>
      </p:sp>
      <p:sp>
        <p:nvSpPr>
          <p:cNvPr id="13" name="Shape 10"/>
          <p:cNvSpPr/>
          <p:nvPr/>
        </p:nvSpPr>
        <p:spPr>
          <a:xfrm>
            <a:off x="6299200" y="3216176"/>
            <a:ext cx="2171700" cy="177800"/>
          </a:xfrm>
          <a:prstGeom prst="roundRect">
            <a:avLst>
              <a:gd name="adj" fmla="val 50000"/>
            </a:avLst>
          </a:prstGeom>
          <a:solidFill>
            <a:srgbClr val="F5A524"/>
          </a:solidFill>
          <a:ln/>
        </p:spPr>
        <p:txBody>
          <a:bodyPr/>
          <a:lstStyle/>
          <a:p>
            <a:endParaRPr lang="en-MX"/>
          </a:p>
        </p:txBody>
      </p:sp>
      <p:sp>
        <p:nvSpPr>
          <p:cNvPr id="14" name="Text 11"/>
          <p:cNvSpPr/>
          <p:nvPr/>
        </p:nvSpPr>
        <p:spPr>
          <a:xfrm>
            <a:off x="9956800" y="3198416"/>
            <a:ext cx="4389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1117"/>
                </a:solidFill>
                <a:latin typeface="JetBrains Mono" pitchFamily="49" charset="0"/>
                <a:ea typeface="JetBrains Mono" pitchFamily="49" charset="-122"/>
                <a:cs typeface="JetBrains Mono" pitchFamily="49" charset="-120"/>
              </a:rPr>
              <a:t>0.61</a:t>
            </a:r>
            <a:endParaRPr lang="en-US" sz="1200" dirty="0"/>
          </a:p>
        </p:txBody>
      </p:sp>
      <p:sp>
        <p:nvSpPr>
          <p:cNvPr id="15" name="Text 12"/>
          <p:cNvSpPr/>
          <p:nvPr/>
        </p:nvSpPr>
        <p:spPr>
          <a:xfrm>
            <a:off x="6299200" y="3517801"/>
            <a:ext cx="4813808" cy="222250"/>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0D1117"/>
                </a:solidFill>
                <a:latin typeface="Instrument Sans" pitchFamily="34" charset="0"/>
                <a:ea typeface="Instrument Sans" pitchFamily="34" charset="-122"/>
                <a:cs typeface="Instrument Sans" pitchFamily="34" charset="-120"/>
              </a:rPr>
              <a:t>Action Mailbox Basics</a:t>
            </a:r>
            <a:endParaRPr lang="en-US" sz="1121" dirty="0"/>
          </a:p>
        </p:txBody>
      </p:sp>
      <p:sp>
        <p:nvSpPr>
          <p:cNvPr id="16" name="Shape 13"/>
          <p:cNvSpPr/>
          <p:nvPr/>
        </p:nvSpPr>
        <p:spPr>
          <a:xfrm>
            <a:off x="6299200" y="3774976"/>
            <a:ext cx="3556000" cy="177800"/>
          </a:xfrm>
          <a:prstGeom prst="roundRect">
            <a:avLst>
              <a:gd name="adj" fmla="val 50000"/>
            </a:avLst>
          </a:prstGeom>
          <a:solidFill>
            <a:srgbClr val="EEF0F4"/>
          </a:solidFill>
          <a:ln/>
        </p:spPr>
        <p:txBody>
          <a:bodyPr/>
          <a:lstStyle/>
          <a:p>
            <a:endParaRPr lang="en-MX"/>
          </a:p>
        </p:txBody>
      </p:sp>
      <p:sp>
        <p:nvSpPr>
          <p:cNvPr id="17" name="Shape 14"/>
          <p:cNvSpPr/>
          <p:nvPr/>
        </p:nvSpPr>
        <p:spPr>
          <a:xfrm>
            <a:off x="6299200" y="3774976"/>
            <a:ext cx="1955800" cy="177800"/>
          </a:xfrm>
          <a:prstGeom prst="roundRect">
            <a:avLst>
              <a:gd name="adj" fmla="val 50000"/>
            </a:avLst>
          </a:prstGeom>
          <a:solidFill>
            <a:srgbClr val="9AA3B2"/>
          </a:solidFill>
          <a:ln/>
        </p:spPr>
        <p:txBody>
          <a:bodyPr/>
          <a:lstStyle/>
          <a:p>
            <a:endParaRPr lang="en-MX"/>
          </a:p>
        </p:txBody>
      </p:sp>
      <p:sp>
        <p:nvSpPr>
          <p:cNvPr id="18" name="Text 15"/>
          <p:cNvSpPr/>
          <p:nvPr/>
        </p:nvSpPr>
        <p:spPr>
          <a:xfrm>
            <a:off x="9956800" y="3757216"/>
            <a:ext cx="4389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1117"/>
                </a:solidFill>
                <a:latin typeface="JetBrains Mono" pitchFamily="49" charset="0"/>
                <a:ea typeface="JetBrains Mono" pitchFamily="49" charset="-122"/>
                <a:cs typeface="JetBrains Mono" pitchFamily="49" charset="-120"/>
              </a:rPr>
              <a:t>0.55</a:t>
            </a:r>
            <a:endParaRPr lang="en-US" sz="1200" dirty="0"/>
          </a:p>
        </p:txBody>
      </p:sp>
      <p:sp>
        <p:nvSpPr>
          <p:cNvPr id="19" name="Text 16"/>
          <p:cNvSpPr/>
          <p:nvPr/>
        </p:nvSpPr>
        <p:spPr>
          <a:xfrm>
            <a:off x="6299200" y="4076601"/>
            <a:ext cx="4813808" cy="222250"/>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6B7383"/>
                </a:solidFill>
                <a:latin typeface="Instrument Sans" pitchFamily="34" charset="0"/>
                <a:ea typeface="Instrument Sans" pitchFamily="34" charset="-122"/>
                <a:cs typeface="Instrument Sans" pitchFamily="34" charset="-120"/>
              </a:rPr>
              <a:t>Active Record Callbacks, after_create</a:t>
            </a:r>
            <a:endParaRPr lang="en-US" sz="1121" dirty="0"/>
          </a:p>
        </p:txBody>
      </p:sp>
      <p:sp>
        <p:nvSpPr>
          <p:cNvPr id="20" name="Shape 17"/>
          <p:cNvSpPr/>
          <p:nvPr/>
        </p:nvSpPr>
        <p:spPr>
          <a:xfrm>
            <a:off x="6299200" y="4333776"/>
            <a:ext cx="3556000" cy="177800"/>
          </a:xfrm>
          <a:prstGeom prst="roundRect">
            <a:avLst>
              <a:gd name="adj" fmla="val 50000"/>
            </a:avLst>
          </a:prstGeom>
          <a:solidFill>
            <a:srgbClr val="EEF0F4"/>
          </a:solidFill>
          <a:ln/>
        </p:spPr>
        <p:txBody>
          <a:bodyPr/>
          <a:lstStyle/>
          <a:p>
            <a:endParaRPr lang="en-MX"/>
          </a:p>
        </p:txBody>
      </p:sp>
      <p:sp>
        <p:nvSpPr>
          <p:cNvPr id="21" name="Shape 18"/>
          <p:cNvSpPr/>
          <p:nvPr/>
        </p:nvSpPr>
        <p:spPr>
          <a:xfrm>
            <a:off x="6299200" y="4333776"/>
            <a:ext cx="1352550" cy="177800"/>
          </a:xfrm>
          <a:prstGeom prst="roundRect">
            <a:avLst>
              <a:gd name="adj" fmla="val 50000"/>
            </a:avLst>
          </a:prstGeom>
          <a:solidFill>
            <a:srgbClr val="CBD2DC"/>
          </a:solidFill>
          <a:ln/>
        </p:spPr>
        <p:txBody>
          <a:bodyPr/>
          <a:lstStyle/>
          <a:p>
            <a:endParaRPr lang="en-MX"/>
          </a:p>
        </p:txBody>
      </p:sp>
      <p:sp>
        <p:nvSpPr>
          <p:cNvPr id="22" name="Text 19"/>
          <p:cNvSpPr/>
          <p:nvPr/>
        </p:nvSpPr>
        <p:spPr>
          <a:xfrm>
            <a:off x="9956800" y="4316016"/>
            <a:ext cx="4389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0.38</a:t>
            </a:r>
            <a:endParaRPr lang="en-US" sz="1200" dirty="0"/>
          </a:p>
        </p:txBody>
      </p:sp>
      <p:sp>
        <p:nvSpPr>
          <p:cNvPr id="23" name="Text 20"/>
          <p:cNvSpPr/>
          <p:nvPr/>
        </p:nvSpPr>
        <p:spPr>
          <a:xfrm>
            <a:off x="6299200" y="4635401"/>
            <a:ext cx="4813808" cy="222250"/>
          </a:xfrm>
          <a:prstGeom prst="rect">
            <a:avLst/>
          </a:prstGeom>
          <a:noFill/>
          <a:ln/>
        </p:spPr>
        <p:txBody>
          <a:bodyPr wrap="square" lIns="0" tIns="0" rIns="0" bIns="0" rtlCol="0" anchor="t">
            <a:normAutofit/>
          </a:bodyPr>
          <a:lstStyle/>
          <a:p>
            <a:pPr marL="0" indent="0" algn="l">
              <a:lnSpc>
                <a:spcPts val="1570"/>
              </a:lnSpc>
              <a:buNone/>
            </a:pPr>
            <a:r>
              <a:rPr lang="en-US" sz="1121" b="1" dirty="0">
                <a:solidFill>
                  <a:srgbClr val="6B7383"/>
                </a:solidFill>
                <a:latin typeface="Instrument Sans" pitchFamily="34" charset="0"/>
                <a:ea typeface="Instrument Sans" pitchFamily="34" charset="-122"/>
                <a:cs typeface="Instrument Sans" pitchFamily="34" charset="-120"/>
              </a:rPr>
              <a:t>Active Record Migrations</a:t>
            </a:r>
            <a:endParaRPr lang="en-US" sz="1121" dirty="0"/>
          </a:p>
        </p:txBody>
      </p:sp>
      <p:sp>
        <p:nvSpPr>
          <p:cNvPr id="24" name="Shape 21"/>
          <p:cNvSpPr/>
          <p:nvPr/>
        </p:nvSpPr>
        <p:spPr>
          <a:xfrm>
            <a:off x="6299200" y="4892576"/>
            <a:ext cx="3556000" cy="177800"/>
          </a:xfrm>
          <a:prstGeom prst="roundRect">
            <a:avLst>
              <a:gd name="adj" fmla="val 50000"/>
            </a:avLst>
          </a:prstGeom>
          <a:solidFill>
            <a:srgbClr val="EEF0F4"/>
          </a:solidFill>
          <a:ln/>
        </p:spPr>
        <p:txBody>
          <a:bodyPr/>
          <a:lstStyle/>
          <a:p>
            <a:endParaRPr lang="en-MX"/>
          </a:p>
        </p:txBody>
      </p:sp>
      <p:sp>
        <p:nvSpPr>
          <p:cNvPr id="25" name="Shape 22"/>
          <p:cNvSpPr/>
          <p:nvPr/>
        </p:nvSpPr>
        <p:spPr>
          <a:xfrm>
            <a:off x="6299200" y="4892576"/>
            <a:ext cx="425450" cy="177800"/>
          </a:xfrm>
          <a:prstGeom prst="roundRect">
            <a:avLst>
              <a:gd name="adj" fmla="val 50000"/>
            </a:avLst>
          </a:prstGeom>
          <a:solidFill>
            <a:srgbClr val="B3BAC6"/>
          </a:solidFill>
          <a:ln/>
        </p:spPr>
        <p:txBody>
          <a:bodyPr/>
          <a:lstStyle/>
          <a:p>
            <a:endParaRPr lang="en-MX"/>
          </a:p>
        </p:txBody>
      </p:sp>
      <p:sp>
        <p:nvSpPr>
          <p:cNvPr id="26" name="Text 23"/>
          <p:cNvSpPr/>
          <p:nvPr/>
        </p:nvSpPr>
        <p:spPr>
          <a:xfrm>
            <a:off x="9956800" y="4874816"/>
            <a:ext cx="43898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0.12</a:t>
            </a:r>
            <a:endParaRPr lang="en-US" sz="1200" dirty="0"/>
          </a:p>
        </p:txBody>
      </p:sp>
      <p:sp>
        <p:nvSpPr>
          <p:cNvPr id="27" name="Shape 24"/>
          <p:cNvSpPr/>
          <p:nvPr/>
        </p:nvSpPr>
        <p:spPr>
          <a:xfrm>
            <a:off x="7731125" y="2400201"/>
            <a:ext cx="0" cy="2679700"/>
          </a:xfrm>
          <a:prstGeom prst="line">
            <a:avLst/>
          </a:prstGeom>
          <a:noFill/>
          <a:ln w="19050">
            <a:solidFill>
              <a:srgbClr val="0D1117"/>
            </a:solidFill>
            <a:prstDash val="dash"/>
          </a:ln>
        </p:spPr>
        <p:txBody>
          <a:bodyPr/>
          <a:lstStyle/>
          <a:p>
            <a:endParaRPr lang="en-MX"/>
          </a:p>
        </p:txBody>
      </p:sp>
      <p:sp>
        <p:nvSpPr>
          <p:cNvPr id="28" name="Text 25"/>
          <p:cNvSpPr/>
          <p:nvPr/>
        </p:nvSpPr>
        <p:spPr>
          <a:xfrm>
            <a:off x="6299200" y="5206901"/>
            <a:ext cx="4826000" cy="391120"/>
          </a:xfrm>
          <a:prstGeom prst="roundRect">
            <a:avLst>
              <a:gd name="adj" fmla="val 19483"/>
            </a:avLst>
          </a:prstGeom>
          <a:solidFill>
            <a:srgbClr val="E8EEFF"/>
          </a:solidFill>
          <a:ln/>
        </p:spPr>
        <p:txBody>
          <a:bodyPr wrap="square" lIns="104682" tIns="66582" rIns="0" bIns="41182"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similarity = cos(angle) distance = 1 − similarity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The vector is just a column</a:t>
            </a:r>
            <a:endParaRPr lang="en-US" sz="3800" dirty="0"/>
          </a:p>
        </p:txBody>
      </p:sp>
      <p:sp>
        <p:nvSpPr>
          <p:cNvPr id="3" name="Shape 1"/>
          <p:cNvSpPr/>
          <p:nvPr/>
        </p:nvSpPr>
        <p:spPr>
          <a:xfrm>
            <a:off x="812800" y="1573510"/>
            <a:ext cx="10566400" cy="2147292"/>
          </a:xfrm>
          <a:prstGeom prst="roundRect">
            <a:avLst>
              <a:gd name="adj" fmla="val 8280"/>
            </a:avLst>
          </a:prstGeom>
          <a:solidFill>
            <a:srgbClr val="FFFFFF"/>
          </a:solidFill>
          <a:ln/>
        </p:spPr>
        <p:txBody>
          <a:bodyPr/>
          <a:lstStyle/>
          <a:p>
            <a:endParaRPr lang="en-MX"/>
          </a:p>
        </p:txBody>
      </p:sp>
      <p:sp>
        <p:nvSpPr>
          <p:cNvPr id="4" name="Shape 2"/>
          <p:cNvSpPr/>
          <p:nvPr/>
        </p:nvSpPr>
        <p:spPr>
          <a:xfrm>
            <a:off x="1066800" y="2094805"/>
            <a:ext cx="3048000" cy="0"/>
          </a:xfrm>
          <a:prstGeom prst="line">
            <a:avLst/>
          </a:prstGeom>
          <a:noFill/>
          <a:ln w="6350">
            <a:solidFill>
              <a:srgbClr val="E1E4EA"/>
            </a:solidFill>
            <a:prstDash val="solid"/>
          </a:ln>
        </p:spPr>
        <p:txBody>
          <a:bodyPr/>
          <a:lstStyle/>
          <a:p>
            <a:endParaRPr lang="en-MX"/>
          </a:p>
        </p:txBody>
      </p:sp>
      <p:sp>
        <p:nvSpPr>
          <p:cNvPr id="5" name="Text 3"/>
          <p:cNvSpPr/>
          <p:nvPr/>
        </p:nvSpPr>
        <p:spPr>
          <a:xfrm>
            <a:off x="1066800" y="1776710"/>
            <a:ext cx="3139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guide</a:t>
            </a:r>
            <a:endParaRPr lang="en-US" sz="1200" dirty="0"/>
          </a:p>
        </p:txBody>
      </p:sp>
      <p:sp>
        <p:nvSpPr>
          <p:cNvPr id="6" name="Shape 4"/>
          <p:cNvSpPr/>
          <p:nvPr/>
        </p:nvSpPr>
        <p:spPr>
          <a:xfrm>
            <a:off x="4114800" y="2094805"/>
            <a:ext cx="2794000" cy="0"/>
          </a:xfrm>
          <a:prstGeom prst="line">
            <a:avLst/>
          </a:prstGeom>
          <a:noFill/>
          <a:ln w="6350">
            <a:solidFill>
              <a:srgbClr val="E1E4EA"/>
            </a:solidFill>
            <a:prstDash val="solid"/>
          </a:ln>
        </p:spPr>
        <p:txBody>
          <a:bodyPr/>
          <a:lstStyle/>
          <a:p>
            <a:endParaRPr lang="en-MX"/>
          </a:p>
        </p:txBody>
      </p:sp>
      <p:sp>
        <p:nvSpPr>
          <p:cNvPr id="7" name="Text 5"/>
          <p:cNvSpPr/>
          <p:nvPr/>
        </p:nvSpPr>
        <p:spPr>
          <a:xfrm>
            <a:off x="4114800" y="1776710"/>
            <a:ext cx="287782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heading</a:t>
            </a:r>
            <a:endParaRPr lang="en-US" sz="1200" dirty="0"/>
          </a:p>
        </p:txBody>
      </p:sp>
      <p:sp>
        <p:nvSpPr>
          <p:cNvPr id="8" name="Shape 6"/>
          <p:cNvSpPr/>
          <p:nvPr/>
        </p:nvSpPr>
        <p:spPr>
          <a:xfrm>
            <a:off x="6908800" y="2094805"/>
            <a:ext cx="4216400" cy="0"/>
          </a:xfrm>
          <a:prstGeom prst="line">
            <a:avLst/>
          </a:prstGeom>
          <a:noFill/>
          <a:ln w="6350">
            <a:solidFill>
              <a:srgbClr val="E1E4EA"/>
            </a:solidFill>
            <a:prstDash val="solid"/>
          </a:ln>
        </p:spPr>
        <p:txBody>
          <a:bodyPr/>
          <a:lstStyle/>
          <a:p>
            <a:endParaRPr lang="en-MX"/>
          </a:p>
        </p:txBody>
      </p:sp>
      <p:sp>
        <p:nvSpPr>
          <p:cNvPr id="9" name="Text 7"/>
          <p:cNvSpPr/>
          <p:nvPr/>
        </p:nvSpPr>
        <p:spPr>
          <a:xfrm>
            <a:off x="6908800" y="1776710"/>
            <a:ext cx="434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embedding: 384 numbers</a:t>
            </a:r>
            <a:endParaRPr lang="en-US" sz="1200" dirty="0"/>
          </a:p>
        </p:txBody>
      </p:sp>
      <p:sp>
        <p:nvSpPr>
          <p:cNvPr id="10" name="Shape 8"/>
          <p:cNvSpPr/>
          <p:nvPr/>
        </p:nvSpPr>
        <p:spPr>
          <a:xfrm>
            <a:off x="1066800" y="2603996"/>
            <a:ext cx="3048000" cy="0"/>
          </a:xfrm>
          <a:prstGeom prst="line">
            <a:avLst/>
          </a:prstGeom>
          <a:noFill/>
          <a:ln w="6350">
            <a:solidFill>
              <a:srgbClr val="E1E4EA"/>
            </a:solidFill>
            <a:prstDash val="solid"/>
          </a:ln>
        </p:spPr>
        <p:txBody>
          <a:bodyPr/>
          <a:lstStyle/>
          <a:p>
            <a:endParaRPr lang="en-MX"/>
          </a:p>
        </p:txBody>
      </p:sp>
      <p:sp>
        <p:nvSpPr>
          <p:cNvPr id="11" name="Text 9"/>
          <p:cNvSpPr/>
          <p:nvPr/>
        </p:nvSpPr>
        <p:spPr>
          <a:xfrm>
            <a:off x="1066800" y="2224980"/>
            <a:ext cx="3139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1117"/>
                </a:solidFill>
                <a:latin typeface="JetBrains Mono" pitchFamily="49" charset="0"/>
                <a:ea typeface="JetBrains Mono" pitchFamily="49" charset="-122"/>
                <a:cs typeface="JetBrains Mono" pitchFamily="49" charset="-120"/>
              </a:rPr>
              <a:t>active_record_callbacks</a:t>
            </a:r>
            <a:endParaRPr lang="en-US" sz="1200" dirty="0"/>
          </a:p>
        </p:txBody>
      </p:sp>
      <p:sp>
        <p:nvSpPr>
          <p:cNvPr id="12" name="Shape 10"/>
          <p:cNvSpPr/>
          <p:nvPr/>
        </p:nvSpPr>
        <p:spPr>
          <a:xfrm>
            <a:off x="4114800" y="2603996"/>
            <a:ext cx="2794000" cy="0"/>
          </a:xfrm>
          <a:prstGeom prst="line">
            <a:avLst/>
          </a:prstGeom>
          <a:noFill/>
          <a:ln w="6350">
            <a:solidFill>
              <a:srgbClr val="E1E4EA"/>
            </a:solidFill>
            <a:prstDash val="solid"/>
          </a:ln>
        </p:spPr>
        <p:txBody>
          <a:bodyPr/>
          <a:lstStyle/>
          <a:p>
            <a:endParaRPr lang="en-MX"/>
          </a:p>
        </p:txBody>
      </p:sp>
      <p:sp>
        <p:nvSpPr>
          <p:cNvPr id="13" name="Text 11"/>
          <p:cNvSpPr/>
          <p:nvPr/>
        </p:nvSpPr>
        <p:spPr>
          <a:xfrm>
            <a:off x="4114800" y="2224980"/>
            <a:ext cx="28778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D1117"/>
                </a:solidFill>
                <a:latin typeface="Instrument Sans" pitchFamily="34" charset="0"/>
                <a:ea typeface="Instrument Sans" pitchFamily="34" charset="-122"/>
                <a:cs typeface="Instrument Sans" pitchFamily="34" charset="-120"/>
              </a:rPr>
              <a:t>Transaction Callbacks</a:t>
            </a:r>
            <a:endParaRPr lang="en-US" sz="1400" dirty="0"/>
          </a:p>
        </p:txBody>
      </p:sp>
      <p:sp>
        <p:nvSpPr>
          <p:cNvPr id="14" name="Shape 12"/>
          <p:cNvSpPr/>
          <p:nvPr/>
        </p:nvSpPr>
        <p:spPr>
          <a:xfrm>
            <a:off x="6908800" y="2603996"/>
            <a:ext cx="4216400" cy="0"/>
          </a:xfrm>
          <a:prstGeom prst="line">
            <a:avLst/>
          </a:prstGeom>
          <a:noFill/>
          <a:ln w="6350">
            <a:solidFill>
              <a:srgbClr val="E1E4EA"/>
            </a:solidFill>
            <a:prstDash val="solid"/>
          </a:ln>
        </p:spPr>
        <p:txBody>
          <a:bodyPr/>
          <a:lstStyle/>
          <a:p>
            <a:endParaRPr lang="en-MX"/>
          </a:p>
        </p:txBody>
      </p:sp>
      <p:sp>
        <p:nvSpPr>
          <p:cNvPr id="15" name="Text 13"/>
          <p:cNvSpPr/>
          <p:nvPr/>
        </p:nvSpPr>
        <p:spPr>
          <a:xfrm>
            <a:off x="6908800" y="2224980"/>
            <a:ext cx="434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[0.021, -0.113, 0.087, … 381 more]</a:t>
            </a:r>
            <a:endParaRPr lang="en-US" sz="1200" dirty="0"/>
          </a:p>
        </p:txBody>
      </p:sp>
      <p:sp>
        <p:nvSpPr>
          <p:cNvPr id="16" name="Shape 14"/>
          <p:cNvSpPr/>
          <p:nvPr/>
        </p:nvSpPr>
        <p:spPr>
          <a:xfrm>
            <a:off x="1066800" y="3113187"/>
            <a:ext cx="3048000" cy="0"/>
          </a:xfrm>
          <a:prstGeom prst="line">
            <a:avLst/>
          </a:prstGeom>
          <a:noFill/>
          <a:ln w="6350">
            <a:solidFill>
              <a:srgbClr val="E1E4EA"/>
            </a:solidFill>
            <a:prstDash val="solid"/>
          </a:ln>
        </p:spPr>
        <p:txBody>
          <a:bodyPr/>
          <a:lstStyle/>
          <a:p>
            <a:endParaRPr lang="en-MX"/>
          </a:p>
        </p:txBody>
      </p:sp>
      <p:sp>
        <p:nvSpPr>
          <p:cNvPr id="17" name="Text 15"/>
          <p:cNvSpPr/>
          <p:nvPr/>
        </p:nvSpPr>
        <p:spPr>
          <a:xfrm>
            <a:off x="1066800" y="2734171"/>
            <a:ext cx="3139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1117"/>
                </a:solidFill>
                <a:latin typeface="JetBrains Mono" pitchFamily="49" charset="0"/>
                <a:ea typeface="JetBrains Mono" pitchFamily="49" charset="-122"/>
                <a:cs typeface="JetBrains Mono" pitchFamily="49" charset="-120"/>
              </a:rPr>
              <a:t>caching_with_rails</a:t>
            </a:r>
            <a:endParaRPr lang="en-US" sz="1200" dirty="0"/>
          </a:p>
        </p:txBody>
      </p:sp>
      <p:sp>
        <p:nvSpPr>
          <p:cNvPr id="18" name="Shape 16"/>
          <p:cNvSpPr/>
          <p:nvPr/>
        </p:nvSpPr>
        <p:spPr>
          <a:xfrm>
            <a:off x="4114800" y="3113187"/>
            <a:ext cx="2794000" cy="0"/>
          </a:xfrm>
          <a:prstGeom prst="line">
            <a:avLst/>
          </a:prstGeom>
          <a:noFill/>
          <a:ln w="6350">
            <a:solidFill>
              <a:srgbClr val="E1E4EA"/>
            </a:solidFill>
            <a:prstDash val="solid"/>
          </a:ln>
        </p:spPr>
        <p:txBody>
          <a:bodyPr/>
          <a:lstStyle/>
          <a:p>
            <a:endParaRPr lang="en-MX"/>
          </a:p>
        </p:txBody>
      </p:sp>
      <p:sp>
        <p:nvSpPr>
          <p:cNvPr id="19" name="Text 17"/>
          <p:cNvSpPr/>
          <p:nvPr/>
        </p:nvSpPr>
        <p:spPr>
          <a:xfrm>
            <a:off x="4114800" y="2734171"/>
            <a:ext cx="28778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D1117"/>
                </a:solidFill>
                <a:latin typeface="Instrument Sans" pitchFamily="34" charset="0"/>
                <a:ea typeface="Instrument Sans" pitchFamily="34" charset="-122"/>
                <a:cs typeface="Instrument Sans" pitchFamily="34" charset="-120"/>
              </a:rPr>
              <a:t>Fragment Caching</a:t>
            </a:r>
            <a:endParaRPr lang="en-US" sz="1400" dirty="0"/>
          </a:p>
        </p:txBody>
      </p:sp>
      <p:sp>
        <p:nvSpPr>
          <p:cNvPr id="20" name="Shape 18"/>
          <p:cNvSpPr/>
          <p:nvPr/>
        </p:nvSpPr>
        <p:spPr>
          <a:xfrm>
            <a:off x="6908800" y="3113187"/>
            <a:ext cx="4216400" cy="0"/>
          </a:xfrm>
          <a:prstGeom prst="line">
            <a:avLst/>
          </a:prstGeom>
          <a:noFill/>
          <a:ln w="6350">
            <a:solidFill>
              <a:srgbClr val="E1E4EA"/>
            </a:solidFill>
            <a:prstDash val="solid"/>
          </a:ln>
        </p:spPr>
        <p:txBody>
          <a:bodyPr/>
          <a:lstStyle/>
          <a:p>
            <a:endParaRPr lang="en-MX"/>
          </a:p>
        </p:txBody>
      </p:sp>
      <p:sp>
        <p:nvSpPr>
          <p:cNvPr id="21" name="Text 19"/>
          <p:cNvSpPr/>
          <p:nvPr/>
        </p:nvSpPr>
        <p:spPr>
          <a:xfrm>
            <a:off x="6908800" y="2734171"/>
            <a:ext cx="434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[-0.054, 0.032, 0.141, … 381 more]</a:t>
            </a:r>
            <a:endParaRPr lang="en-US" sz="1200" dirty="0"/>
          </a:p>
        </p:txBody>
      </p:sp>
      <p:sp>
        <p:nvSpPr>
          <p:cNvPr id="22" name="Text 20"/>
          <p:cNvSpPr/>
          <p:nvPr/>
        </p:nvSpPr>
        <p:spPr>
          <a:xfrm>
            <a:off x="1066800" y="3243362"/>
            <a:ext cx="313944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0D1117"/>
                </a:solidFill>
                <a:latin typeface="JetBrains Mono" pitchFamily="49" charset="0"/>
                <a:ea typeface="JetBrains Mono" pitchFamily="49" charset="-122"/>
                <a:cs typeface="JetBrains Mono" pitchFamily="49" charset="-120"/>
              </a:rPr>
              <a:t>active_record_migrations</a:t>
            </a:r>
            <a:endParaRPr lang="en-US" sz="1200" dirty="0"/>
          </a:p>
        </p:txBody>
      </p:sp>
      <p:sp>
        <p:nvSpPr>
          <p:cNvPr id="23" name="Text 21"/>
          <p:cNvSpPr/>
          <p:nvPr/>
        </p:nvSpPr>
        <p:spPr>
          <a:xfrm>
            <a:off x="4114800" y="3243362"/>
            <a:ext cx="2877820" cy="274241"/>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0D1117"/>
                </a:solidFill>
                <a:latin typeface="Instrument Sans" pitchFamily="34" charset="0"/>
                <a:ea typeface="Instrument Sans" pitchFamily="34" charset="-122"/>
                <a:cs typeface="Instrument Sans" pitchFamily="34" charset="-120"/>
              </a:rPr>
              <a:t>Changing Columns</a:t>
            </a:r>
            <a:endParaRPr lang="en-US" sz="1400" dirty="0"/>
          </a:p>
        </p:txBody>
      </p:sp>
      <p:sp>
        <p:nvSpPr>
          <p:cNvPr id="24" name="Text 22"/>
          <p:cNvSpPr/>
          <p:nvPr/>
        </p:nvSpPr>
        <p:spPr>
          <a:xfrm>
            <a:off x="6908800" y="3243362"/>
            <a:ext cx="434289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[0.118, -0.007, -0.062, … 381 more]</a:t>
            </a:r>
            <a:endParaRPr lang="en-US" sz="1200" dirty="0"/>
          </a:p>
        </p:txBody>
      </p:sp>
      <p:sp>
        <p:nvSpPr>
          <p:cNvPr id="25" name="Text 23"/>
          <p:cNvSpPr/>
          <p:nvPr/>
        </p:nvSpPr>
        <p:spPr>
          <a:xfrm>
            <a:off x="812800" y="3974802"/>
            <a:ext cx="10566400" cy="924520"/>
          </a:xfrm>
          <a:prstGeom prst="roundRect">
            <a:avLst>
              <a:gd name="adj" fmla="val 16484"/>
            </a:avLst>
          </a:prstGeom>
          <a:solidFill>
            <a:srgbClr val="0D1117"/>
          </a:solidFill>
          <a:ln/>
        </p:spPr>
        <p:txBody>
          <a:bodyPr wrap="square" lIns="209364" tIns="133164" rIns="0" bIns="107764" rtlCol="0" anchor="t">
            <a:normAutofit/>
          </a:bodyPr>
          <a:lstStyle/>
          <a:p>
            <a:pPr marL="0" indent="0" algn="l">
              <a:lnSpc>
                <a:spcPts val="2240"/>
              </a:lnSpc>
              <a:buNone/>
            </a:pPr>
            <a:r>
              <a:rPr lang="en-US" sz="1400" dirty="0">
                <a:solidFill>
                  <a:srgbClr val="F2F4F7"/>
                </a:solidFill>
                <a:latin typeface="JetBrains Mono" pitchFamily="49" charset="0"/>
                <a:ea typeface="JetBrains Mono" pitchFamily="49" charset="-122"/>
                <a:cs typeface="JetBrains Mono" pitchFamily="49" charset="-120"/>
              </a:rPr>
              <a:t>t.vector </a:t>
            </a:r>
            <a:r>
              <a:rPr lang="en-US" sz="1400" dirty="0">
                <a:solidFill>
                  <a:srgbClr val="7DA2FF"/>
                </a:solidFill>
                <a:latin typeface="JetBrains Mono" pitchFamily="49" charset="0"/>
                <a:ea typeface="JetBrains Mono" pitchFamily="49" charset="-122"/>
                <a:cs typeface="JetBrains Mono" pitchFamily="49" charset="-120"/>
              </a:rPr>
              <a:t>:embedding</a:t>
            </a:r>
            <a:r>
              <a:rPr lang="en-US" sz="1400" dirty="0">
                <a:solidFill>
                  <a:srgbClr val="F2F4F7"/>
                </a:solidFill>
                <a:latin typeface="JetBrains Mono" pitchFamily="49" charset="0"/>
                <a:ea typeface="JetBrains Mono" pitchFamily="49" charset="-122"/>
                <a:cs typeface="JetBrains Mono" pitchFamily="49" charset="-120"/>
              </a:rPr>
              <a:t>, limit: 384</a:t>
            </a:r>
            <a:endParaRPr lang="en-US" sz="1400" dirty="0"/>
          </a:p>
          <a:p>
            <a:pPr marL="0" indent="0" algn="l">
              <a:lnSpc>
                <a:spcPts val="2240"/>
              </a:lnSpc>
              <a:buNone/>
            </a:pPr>
            <a:r>
              <a:rPr lang="en-US" sz="1400" dirty="0">
                <a:solidFill>
                  <a:srgbClr val="F2F4F7"/>
                </a:solidFill>
                <a:latin typeface="JetBrains Mono" pitchFamily="49" charset="0"/>
                <a:ea typeface="JetBrains Mono" pitchFamily="49" charset="-122"/>
                <a:cs typeface="JetBrains Mono" pitchFamily="49" charset="-120"/>
              </a:rPr>
              <a:t>Chunk.nearest_neighbors(</a:t>
            </a:r>
            <a:r>
              <a:rPr lang="en-US" sz="1400" dirty="0">
                <a:solidFill>
                  <a:srgbClr val="7DA2FF"/>
                </a:solidFill>
                <a:latin typeface="JetBrains Mono" pitchFamily="49" charset="0"/>
                <a:ea typeface="JetBrains Mono" pitchFamily="49" charset="-122"/>
                <a:cs typeface="JetBrains Mono" pitchFamily="49" charset="-120"/>
              </a:rPr>
              <a:t>:embedding</a:t>
            </a:r>
            <a:r>
              <a:rPr lang="en-US" sz="1400" dirty="0">
                <a:solidFill>
                  <a:srgbClr val="F2F4F7"/>
                </a:solidFill>
                <a:latin typeface="JetBrains Mono" pitchFamily="49" charset="0"/>
                <a:ea typeface="JetBrains Mono" pitchFamily="49" charset="-122"/>
                <a:cs typeface="JetBrains Mono" pitchFamily="49" charset="-120"/>
              </a:rPr>
              <a:t>, Embedder.call(question), distance: </a:t>
            </a:r>
            <a:r>
              <a:rPr lang="en-US" sz="1400" dirty="0">
                <a:solidFill>
                  <a:srgbClr val="6FD6C4"/>
                </a:solidFill>
                <a:latin typeface="JetBrains Mono" pitchFamily="49" charset="0"/>
                <a:ea typeface="JetBrains Mono" pitchFamily="49" charset="-122"/>
                <a:cs typeface="JetBrains Mono" pitchFamily="49" charset="-120"/>
              </a:rPr>
              <a:t>"cosine"</a:t>
            </a:r>
            <a:r>
              <a:rPr lang="en-US" sz="1400" dirty="0">
                <a:solidFill>
                  <a:srgbClr val="F2F4F7"/>
                </a:solidFill>
                <a:latin typeface="JetBrains Mono" pitchFamily="49" charset="0"/>
                <a:ea typeface="JetBrains Mono" pitchFamily="49" charset="-122"/>
                <a:cs typeface="JetBrains Mono" pitchFamily="49" charset="-120"/>
              </a:rPr>
              <a:t>)</a:t>
            </a:r>
            <a:endParaRPr lang="en-US" sz="1400" dirty="0"/>
          </a:p>
        </p:txBody>
      </p:sp>
      <p:sp>
        <p:nvSpPr>
          <p:cNvPr id="26" name="Text 24"/>
          <p:cNvSpPr/>
          <p:nvPr/>
        </p:nvSpPr>
        <p:spPr>
          <a:xfrm>
            <a:off x="812800" y="5153323"/>
            <a:ext cx="10883392" cy="301625"/>
          </a:xfrm>
          <a:prstGeom prst="rect">
            <a:avLst/>
          </a:prstGeom>
          <a:noFill/>
          <a:ln/>
        </p:spPr>
        <p:txBody>
          <a:bodyPr wrap="square" lIns="0" tIns="0" rIns="0" bIns="0" rtlCol="0" anchor="t">
            <a:normAutofit/>
          </a:bodyPr>
          <a:lstStyle/>
          <a:p>
            <a:pPr marL="0" indent="0" algn="l">
              <a:lnSpc>
                <a:spcPts val="2175"/>
              </a:lnSpc>
              <a:buNone/>
            </a:pPr>
            <a:r>
              <a:rPr lang="en-US" sz="1500" dirty="0">
                <a:solidFill>
                  <a:srgbClr val="3B4250"/>
                </a:solidFill>
                <a:latin typeface="Instrument Sans" pitchFamily="34" charset="0"/>
                <a:ea typeface="Instrument Sans" pitchFamily="34" charset="-122"/>
                <a:cs typeface="Instrument Sans" pitchFamily="34" charset="-120"/>
              </a:rPr>
              <a:t>pgvector stores it, the neighbor gem queries it, informers computes it on your laptop.</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Four steps from markdown to search</a:t>
            </a:r>
            <a:endParaRPr lang="en-US" sz="3800" dirty="0"/>
          </a:p>
        </p:txBody>
      </p:sp>
      <p:sp>
        <p:nvSpPr>
          <p:cNvPr id="3" name="Shape 1"/>
          <p:cNvSpPr/>
          <p:nvPr/>
        </p:nvSpPr>
        <p:spPr>
          <a:xfrm>
            <a:off x="812800" y="1675110"/>
            <a:ext cx="2527300" cy="2591891"/>
          </a:xfrm>
          <a:prstGeom prst="roundRect">
            <a:avLst>
              <a:gd name="adj" fmla="val 7035"/>
            </a:avLst>
          </a:prstGeom>
          <a:solidFill>
            <a:srgbClr val="FFFFFF"/>
          </a:solidFill>
          <a:ln/>
        </p:spPr>
        <p:txBody>
          <a:bodyPr/>
          <a:lstStyle/>
          <a:p>
            <a:endParaRPr lang="en-MX"/>
          </a:p>
        </p:txBody>
      </p:sp>
      <p:sp>
        <p:nvSpPr>
          <p:cNvPr id="4" name="Text 2"/>
          <p:cNvSpPr/>
          <p:nvPr/>
        </p:nvSpPr>
        <p:spPr>
          <a:xfrm>
            <a:off x="1041400" y="1929110"/>
            <a:ext cx="2132203"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2A5BFF"/>
                </a:solidFill>
                <a:latin typeface="Bricolage Grotesque" pitchFamily="34" charset="0"/>
                <a:ea typeface="Bricolage Grotesque" pitchFamily="34" charset="-122"/>
                <a:cs typeface="Bricolage Grotesque" pitchFamily="34" charset="-120"/>
              </a:rPr>
              <a:t>1</a:t>
            </a:r>
            <a:endParaRPr lang="en-US" sz="3600" dirty="0"/>
          </a:p>
        </p:txBody>
      </p:sp>
      <p:sp>
        <p:nvSpPr>
          <p:cNvPr id="5" name="Text 3"/>
          <p:cNvSpPr/>
          <p:nvPr/>
        </p:nvSpPr>
        <p:spPr>
          <a:xfrm>
            <a:off x="1041400" y="2487910"/>
            <a:ext cx="213220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D1117"/>
                </a:solidFill>
                <a:latin typeface="Bricolage Grotesque" pitchFamily="34" charset="0"/>
                <a:ea typeface="Bricolage Grotesque" pitchFamily="34" charset="-122"/>
                <a:cs typeface="Bricolage Grotesque" pitchFamily="34" charset="-120"/>
              </a:rPr>
              <a:t>Chunk</a:t>
            </a:r>
            <a:endParaRPr lang="en-US" sz="2200" dirty="0"/>
          </a:p>
        </p:txBody>
      </p:sp>
      <p:sp>
        <p:nvSpPr>
          <p:cNvPr id="6" name="Text 4"/>
          <p:cNvSpPr/>
          <p:nvPr/>
        </p:nvSpPr>
        <p:spPr>
          <a:xfrm>
            <a:off x="1041400" y="2924770"/>
            <a:ext cx="2132203"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B4250"/>
                </a:solidFill>
                <a:latin typeface="Instrument Sans" pitchFamily="34" charset="0"/>
                <a:ea typeface="Instrument Sans" pitchFamily="34" charset="-122"/>
                <a:cs typeface="Instrument Sans" pitchFamily="34" charset="-120"/>
              </a:rPr>
              <a:t>Split each guide at its headings, at most 150 words</a:t>
            </a:r>
            <a:endParaRPr lang="en-US" sz="1400" dirty="0"/>
          </a:p>
        </p:txBody>
      </p:sp>
      <p:sp>
        <p:nvSpPr>
          <p:cNvPr id="7" name="Text 5"/>
          <p:cNvSpPr/>
          <p:nvPr/>
        </p:nvSpPr>
        <p:spPr>
          <a:xfrm>
            <a:off x="1041400" y="3799681"/>
            <a:ext cx="21322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guide_chunker.rb</a:t>
            </a:r>
            <a:endParaRPr lang="en-US" sz="1200" dirty="0"/>
          </a:p>
        </p:txBody>
      </p:sp>
      <p:sp>
        <p:nvSpPr>
          <p:cNvPr id="8" name="Shape 6"/>
          <p:cNvSpPr/>
          <p:nvPr/>
        </p:nvSpPr>
        <p:spPr>
          <a:xfrm>
            <a:off x="3492500" y="1675110"/>
            <a:ext cx="2527300" cy="2591891"/>
          </a:xfrm>
          <a:prstGeom prst="roundRect">
            <a:avLst>
              <a:gd name="adj" fmla="val 7035"/>
            </a:avLst>
          </a:prstGeom>
          <a:solidFill>
            <a:srgbClr val="FFFFFF"/>
          </a:solidFill>
          <a:ln/>
        </p:spPr>
        <p:txBody>
          <a:bodyPr/>
          <a:lstStyle/>
          <a:p>
            <a:endParaRPr lang="en-MX"/>
          </a:p>
        </p:txBody>
      </p:sp>
      <p:sp>
        <p:nvSpPr>
          <p:cNvPr id="9" name="Text 7"/>
          <p:cNvSpPr/>
          <p:nvPr/>
        </p:nvSpPr>
        <p:spPr>
          <a:xfrm>
            <a:off x="3721100" y="1929110"/>
            <a:ext cx="2132203"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2A5BFF"/>
                </a:solidFill>
                <a:latin typeface="Bricolage Grotesque" pitchFamily="34" charset="0"/>
                <a:ea typeface="Bricolage Grotesque" pitchFamily="34" charset="-122"/>
                <a:cs typeface="Bricolage Grotesque" pitchFamily="34" charset="-120"/>
              </a:rPr>
              <a:t>2</a:t>
            </a:r>
            <a:endParaRPr lang="en-US" sz="3600" dirty="0"/>
          </a:p>
        </p:txBody>
      </p:sp>
      <p:sp>
        <p:nvSpPr>
          <p:cNvPr id="10" name="Text 8"/>
          <p:cNvSpPr/>
          <p:nvPr/>
        </p:nvSpPr>
        <p:spPr>
          <a:xfrm>
            <a:off x="3721100" y="2487910"/>
            <a:ext cx="213220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D1117"/>
                </a:solidFill>
                <a:latin typeface="Bricolage Grotesque" pitchFamily="34" charset="0"/>
                <a:ea typeface="Bricolage Grotesque" pitchFamily="34" charset="-122"/>
                <a:cs typeface="Bricolage Grotesque" pitchFamily="34" charset="-120"/>
              </a:rPr>
              <a:t>Embed</a:t>
            </a:r>
            <a:endParaRPr lang="en-US" sz="2200" dirty="0"/>
          </a:p>
        </p:txBody>
      </p:sp>
      <p:sp>
        <p:nvSpPr>
          <p:cNvPr id="11" name="Text 9"/>
          <p:cNvSpPr/>
          <p:nvPr/>
        </p:nvSpPr>
        <p:spPr>
          <a:xfrm>
            <a:off x="3721100" y="2924770"/>
            <a:ext cx="2132203"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B4250"/>
                </a:solidFill>
                <a:latin typeface="Instrument Sans" pitchFamily="34" charset="0"/>
                <a:ea typeface="Instrument Sans" pitchFamily="34" charset="-122"/>
                <a:cs typeface="Instrument Sans" pitchFamily="34" charset="-120"/>
              </a:rPr>
              <a:t>A job turns each chunk into 384 numbers</a:t>
            </a:r>
            <a:endParaRPr lang="en-US" sz="1400" dirty="0"/>
          </a:p>
        </p:txBody>
      </p:sp>
      <p:sp>
        <p:nvSpPr>
          <p:cNvPr id="12" name="Text 10"/>
          <p:cNvSpPr/>
          <p:nvPr/>
        </p:nvSpPr>
        <p:spPr>
          <a:xfrm>
            <a:off x="3721100" y="3541911"/>
            <a:ext cx="21322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embed_chunk_job.rb</a:t>
            </a:r>
            <a:endParaRPr lang="en-US" sz="1200" dirty="0"/>
          </a:p>
        </p:txBody>
      </p:sp>
      <p:sp>
        <p:nvSpPr>
          <p:cNvPr id="13" name="Shape 11"/>
          <p:cNvSpPr/>
          <p:nvPr/>
        </p:nvSpPr>
        <p:spPr>
          <a:xfrm>
            <a:off x="6172200" y="1675110"/>
            <a:ext cx="2527300" cy="2591891"/>
          </a:xfrm>
          <a:prstGeom prst="roundRect">
            <a:avLst>
              <a:gd name="adj" fmla="val 7035"/>
            </a:avLst>
          </a:prstGeom>
          <a:solidFill>
            <a:srgbClr val="FFFFFF"/>
          </a:solidFill>
          <a:ln/>
        </p:spPr>
        <p:txBody>
          <a:bodyPr/>
          <a:lstStyle/>
          <a:p>
            <a:endParaRPr lang="en-MX"/>
          </a:p>
        </p:txBody>
      </p:sp>
      <p:sp>
        <p:nvSpPr>
          <p:cNvPr id="14" name="Text 12"/>
          <p:cNvSpPr/>
          <p:nvPr/>
        </p:nvSpPr>
        <p:spPr>
          <a:xfrm>
            <a:off x="6400800" y="1929110"/>
            <a:ext cx="2132203"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2A5BFF"/>
                </a:solidFill>
                <a:latin typeface="Bricolage Grotesque" pitchFamily="34" charset="0"/>
                <a:ea typeface="Bricolage Grotesque" pitchFamily="34" charset="-122"/>
                <a:cs typeface="Bricolage Grotesque" pitchFamily="34" charset="-120"/>
              </a:rPr>
              <a:t>3</a:t>
            </a:r>
            <a:endParaRPr lang="en-US" sz="3600" dirty="0"/>
          </a:p>
        </p:txBody>
      </p:sp>
      <p:sp>
        <p:nvSpPr>
          <p:cNvPr id="15" name="Text 13"/>
          <p:cNvSpPr/>
          <p:nvPr/>
        </p:nvSpPr>
        <p:spPr>
          <a:xfrm>
            <a:off x="6400800" y="2487910"/>
            <a:ext cx="213220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D1117"/>
                </a:solidFill>
                <a:latin typeface="Bricolage Grotesque" pitchFamily="34" charset="0"/>
                <a:ea typeface="Bricolage Grotesque" pitchFamily="34" charset="-122"/>
                <a:cs typeface="Bricolage Grotesque" pitchFamily="34" charset="-120"/>
              </a:rPr>
              <a:t>Store</a:t>
            </a:r>
            <a:endParaRPr lang="en-US" sz="2200" dirty="0"/>
          </a:p>
        </p:txBody>
      </p:sp>
      <p:sp>
        <p:nvSpPr>
          <p:cNvPr id="16" name="Text 14"/>
          <p:cNvSpPr/>
          <p:nvPr/>
        </p:nvSpPr>
        <p:spPr>
          <a:xfrm>
            <a:off x="6400800" y="2924770"/>
            <a:ext cx="2132203"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B4250"/>
                </a:solidFill>
                <a:latin typeface="Instrument Sans" pitchFamily="34" charset="0"/>
                <a:ea typeface="Instrument Sans" pitchFamily="34" charset="-122"/>
                <a:cs typeface="Instrument Sans" pitchFamily="34" charset="-120"/>
              </a:rPr>
              <a:t>One row per chunk, text and vector side by side</a:t>
            </a:r>
            <a:endParaRPr lang="en-US" sz="1400" dirty="0"/>
          </a:p>
        </p:txBody>
      </p:sp>
      <p:sp>
        <p:nvSpPr>
          <p:cNvPr id="17" name="Text 15"/>
          <p:cNvSpPr/>
          <p:nvPr/>
        </p:nvSpPr>
        <p:spPr>
          <a:xfrm>
            <a:off x="6400800" y="3541911"/>
            <a:ext cx="21322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create_chunks.rb</a:t>
            </a:r>
            <a:endParaRPr lang="en-US" sz="1200" dirty="0"/>
          </a:p>
        </p:txBody>
      </p:sp>
      <p:sp>
        <p:nvSpPr>
          <p:cNvPr id="18" name="Shape 16"/>
          <p:cNvSpPr/>
          <p:nvPr/>
        </p:nvSpPr>
        <p:spPr>
          <a:xfrm>
            <a:off x="8851900" y="1675110"/>
            <a:ext cx="2527300" cy="2591891"/>
          </a:xfrm>
          <a:prstGeom prst="roundRect">
            <a:avLst>
              <a:gd name="adj" fmla="val 7035"/>
            </a:avLst>
          </a:prstGeom>
          <a:solidFill>
            <a:srgbClr val="0D1117"/>
          </a:solidFill>
          <a:ln/>
        </p:spPr>
        <p:txBody>
          <a:bodyPr/>
          <a:lstStyle/>
          <a:p>
            <a:endParaRPr lang="en-MX"/>
          </a:p>
        </p:txBody>
      </p:sp>
      <p:sp>
        <p:nvSpPr>
          <p:cNvPr id="19" name="Text 17"/>
          <p:cNvSpPr/>
          <p:nvPr/>
        </p:nvSpPr>
        <p:spPr>
          <a:xfrm>
            <a:off x="9080500" y="1929110"/>
            <a:ext cx="2132203" cy="482600"/>
          </a:xfrm>
          <a:prstGeom prst="rect">
            <a:avLst/>
          </a:prstGeom>
          <a:noFill/>
          <a:ln/>
        </p:spPr>
        <p:txBody>
          <a:bodyPr wrap="square" lIns="0" tIns="0" rIns="0" bIns="0" rtlCol="0" anchor="t">
            <a:normAutofit/>
          </a:bodyPr>
          <a:lstStyle/>
          <a:p>
            <a:pPr marL="0" indent="0" algn="l">
              <a:lnSpc>
                <a:spcPts val="3600"/>
              </a:lnSpc>
              <a:buNone/>
            </a:pPr>
            <a:r>
              <a:rPr lang="en-US" sz="3600" b="1" dirty="0">
                <a:solidFill>
                  <a:srgbClr val="7DA2FF"/>
                </a:solidFill>
                <a:latin typeface="Bricolage Grotesque" pitchFamily="34" charset="0"/>
                <a:ea typeface="Bricolage Grotesque" pitchFamily="34" charset="-122"/>
                <a:cs typeface="Bricolage Grotesque" pitchFamily="34" charset="-120"/>
              </a:rPr>
              <a:t>4</a:t>
            </a:r>
            <a:endParaRPr lang="en-US" sz="3600" dirty="0"/>
          </a:p>
        </p:txBody>
      </p:sp>
      <p:sp>
        <p:nvSpPr>
          <p:cNvPr id="20" name="Text 18"/>
          <p:cNvSpPr/>
          <p:nvPr/>
        </p:nvSpPr>
        <p:spPr>
          <a:xfrm>
            <a:off x="9080500" y="2487910"/>
            <a:ext cx="2132203"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F2F4F7"/>
                </a:solidFill>
                <a:latin typeface="Bricolage Grotesque" pitchFamily="34" charset="0"/>
                <a:ea typeface="Bricolage Grotesque" pitchFamily="34" charset="-122"/>
                <a:cs typeface="Bricolage Grotesque" pitchFamily="34" charset="-120"/>
              </a:rPr>
              <a:t>Search</a:t>
            </a:r>
            <a:endParaRPr lang="en-US" sz="2200" dirty="0"/>
          </a:p>
        </p:txBody>
      </p:sp>
      <p:sp>
        <p:nvSpPr>
          <p:cNvPr id="21" name="Text 19"/>
          <p:cNvSpPr/>
          <p:nvPr/>
        </p:nvSpPr>
        <p:spPr>
          <a:xfrm>
            <a:off x="9080500" y="2924770"/>
            <a:ext cx="2132203"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C9CED8"/>
                </a:solidFill>
                <a:latin typeface="Instrument Sans" pitchFamily="34" charset="0"/>
                <a:ea typeface="Instrument Sans" pitchFamily="34" charset="-122"/>
                <a:cs typeface="Instrument Sans" pitchFamily="34" charset="-120"/>
              </a:rPr>
              <a:t>Embed the question, order by distance</a:t>
            </a:r>
            <a:endParaRPr lang="en-US" sz="1400" dirty="0"/>
          </a:p>
        </p:txBody>
      </p:sp>
      <p:sp>
        <p:nvSpPr>
          <p:cNvPr id="22" name="Text 20"/>
          <p:cNvSpPr/>
          <p:nvPr/>
        </p:nvSpPr>
        <p:spPr>
          <a:xfrm>
            <a:off x="9080500" y="3541911"/>
            <a:ext cx="2132203"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2"/>
                </a:solidFill>
                <a:latin typeface="JetBrains Mono" pitchFamily="49" charset="0"/>
                <a:ea typeface="JetBrains Mono" pitchFamily="49" charset="-122"/>
                <a:cs typeface="JetBrains Mono" pitchFamily="49" charset="-120"/>
              </a:rPr>
              <a:t>chunk_search.rb</a:t>
            </a:r>
            <a:endParaRPr lang="en-US" sz="1200" dirty="0"/>
          </a:p>
        </p:txBody>
      </p:sp>
      <p:sp>
        <p:nvSpPr>
          <p:cNvPr id="23" name="Text 21"/>
          <p:cNvSpPr/>
          <p:nvPr/>
        </p:nvSpPr>
        <p:spPr>
          <a:xfrm>
            <a:off x="812800" y="4622602"/>
            <a:ext cx="9156700" cy="31998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3B4250"/>
                </a:solidFill>
                <a:latin typeface="Instrument Sans" pitchFamily="34" charset="0"/>
                <a:ea typeface="Instrument Sans" pitchFamily="34" charset="-122"/>
                <a:cs typeface="Instrument Sans" pitchFamily="34" charset="-120"/>
              </a:rPr>
              <a:t>Each step is plain Rails: a service, a job, a migration and a few class methods.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How you cut the text matters</a:t>
            </a:r>
            <a:endParaRPr lang="en-US" sz="3800" dirty="0"/>
          </a:p>
        </p:txBody>
      </p:sp>
      <p:sp>
        <p:nvSpPr>
          <p:cNvPr id="3" name="Text 1"/>
          <p:cNvSpPr/>
          <p:nvPr/>
        </p:nvSpPr>
        <p:spPr>
          <a:xfrm>
            <a:off x="812800" y="1421110"/>
            <a:ext cx="1088339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3B4250"/>
                </a:solidFill>
                <a:latin typeface="Instrument Sans" pitchFamily="34" charset="0"/>
                <a:ea typeface="Instrument Sans" pitchFamily="34" charset="-122"/>
                <a:cs typeface="Instrument Sans" pitchFamily="34" charset="-120"/>
              </a:rPr>
              <a:t>Question: </a:t>
            </a:r>
            <a:r>
              <a:rPr lang="en-US" sz="1500" b="1" dirty="0">
                <a:solidFill>
                  <a:srgbClr val="3B4250"/>
                </a:solidFill>
                <a:latin typeface="Instrument Sans" pitchFamily="34" charset="0"/>
                <a:ea typeface="Instrument Sans" pitchFamily="34" charset="-122"/>
                <a:cs typeface="Instrument Sans" pitchFamily="34" charset="-120"/>
              </a:rPr>
              <a:t>“do something once a record is saved for good”</a:t>
            </a:r>
            <a:r>
              <a:rPr lang="en-US" sz="1500" dirty="0">
                <a:solidFill>
                  <a:srgbClr val="3B4250"/>
                </a:solidFill>
                <a:latin typeface="Instrument Sans" pitchFamily="34" charset="0"/>
                <a:ea typeface="Instrument Sans" pitchFamily="34" charset="-122"/>
                <a:cs typeface="Instrument Sans" pitchFamily="34" charset="-120"/>
              </a:rPr>
              <a:t>. Same Guides text, cut three ways:</a:t>
            </a:r>
            <a:endParaRPr lang="en-US" sz="1500" dirty="0"/>
          </a:p>
        </p:txBody>
      </p:sp>
      <p:sp>
        <p:nvSpPr>
          <p:cNvPr id="4" name="Shape 2"/>
          <p:cNvSpPr/>
          <p:nvPr/>
        </p:nvSpPr>
        <p:spPr>
          <a:xfrm>
            <a:off x="812800" y="1916410"/>
            <a:ext cx="3420467" cy="3157339"/>
          </a:xfrm>
          <a:prstGeom prst="roundRect">
            <a:avLst>
              <a:gd name="adj" fmla="val 5631"/>
            </a:avLst>
          </a:prstGeom>
          <a:solidFill>
            <a:srgbClr val="FFFFFF"/>
          </a:solidFill>
          <a:ln/>
        </p:spPr>
        <p:txBody>
          <a:bodyPr/>
          <a:lstStyle/>
          <a:p>
            <a:endParaRPr lang="en-MX"/>
          </a:p>
        </p:txBody>
      </p:sp>
      <p:sp>
        <p:nvSpPr>
          <p:cNvPr id="5" name="Text 3"/>
          <p:cNvSpPr/>
          <p:nvPr/>
        </p:nvSpPr>
        <p:spPr>
          <a:xfrm>
            <a:off x="1041400" y="2145010"/>
            <a:ext cx="3052165"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D1117"/>
                </a:solidFill>
                <a:latin typeface="Bricolage Grotesque" pitchFamily="34" charset="0"/>
                <a:ea typeface="Bricolage Grotesque" pitchFamily="34" charset="-122"/>
                <a:cs typeface="Bricolage Grotesque" pitchFamily="34" charset="-120"/>
              </a:rPr>
              <a:t>Too long</a:t>
            </a:r>
            <a:endParaRPr lang="en-US" sz="2000" dirty="0"/>
          </a:p>
        </p:txBody>
      </p:sp>
      <p:sp>
        <p:nvSpPr>
          <p:cNvPr id="6" name="Text 4"/>
          <p:cNvSpPr/>
          <p:nvPr/>
        </p:nvSpPr>
        <p:spPr>
          <a:xfrm>
            <a:off x="1041400" y="2551410"/>
            <a:ext cx="3052165"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Callbacks › Overview, 400 words</a:t>
            </a:r>
            <a:endParaRPr lang="en-US" sz="1200" dirty="0"/>
          </a:p>
        </p:txBody>
      </p:sp>
      <p:sp>
        <p:nvSpPr>
          <p:cNvPr id="7" name="Text 5"/>
          <p:cNvSpPr/>
          <p:nvPr/>
        </p:nvSpPr>
        <p:spPr>
          <a:xfrm>
            <a:off x="1041400" y="2866330"/>
            <a:ext cx="3052165" cy="743347"/>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0D1117"/>
                </a:solidFill>
                <a:latin typeface="Instrument Sans" pitchFamily="34" charset="0"/>
                <a:ea typeface="Instrument Sans" pitchFamily="34" charset="-122"/>
                <a:cs typeface="Instrument Sans" pitchFamily="34" charset="-120"/>
              </a:rPr>
              <a:t>Callbacks are hooks into the life cycle of an Active Record object: validation, creation, updating…</a:t>
            </a:r>
            <a:endParaRPr lang="en-US" sz="1300" dirty="0"/>
          </a:p>
        </p:txBody>
      </p:sp>
      <p:sp>
        <p:nvSpPr>
          <p:cNvPr id="8" name="Text 6"/>
          <p:cNvSpPr/>
          <p:nvPr/>
        </p:nvSpPr>
        <p:spPr>
          <a:xfrm>
            <a:off x="1041400" y="3685877"/>
            <a:ext cx="3052165"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C9CED8"/>
                </a:solidFill>
                <a:latin typeface="Instrument Sans" pitchFamily="34" charset="0"/>
                <a:ea typeface="Instrument Sans" pitchFamily="34" charset="-122"/>
                <a:cs typeface="Instrument Sans" pitchFamily="34" charset="-120"/>
              </a:rPr>
              <a:t>…after_commit runs once the transaction is committed.</a:t>
            </a:r>
            <a:endParaRPr lang="en-US" sz="1300" dirty="0"/>
          </a:p>
        </p:txBody>
      </p:sp>
      <p:sp>
        <p:nvSpPr>
          <p:cNvPr id="9" name="Text 7"/>
          <p:cNvSpPr/>
          <p:nvPr/>
        </p:nvSpPr>
        <p:spPr>
          <a:xfrm>
            <a:off x="1041400" y="4266109"/>
            <a:ext cx="2963267" cy="579041"/>
          </a:xfrm>
          <a:prstGeom prst="roundRect">
            <a:avLst>
              <a:gd name="adj" fmla="val 13160"/>
            </a:avLst>
          </a:prstGeom>
          <a:solidFill>
            <a:srgbClr val="FFF0EC"/>
          </a:solidFill>
          <a:ln/>
        </p:spPr>
        <p:txBody>
          <a:bodyPr wrap="square" lIns="79282" tIns="53882" rIns="0" bIns="28482" rtlCol="0" anchor="t">
            <a:normAutofit/>
          </a:bodyPr>
          <a:lstStyle/>
          <a:p>
            <a:pPr marL="0" indent="0" algn="l">
              <a:lnSpc>
                <a:spcPts val="1680"/>
              </a:lnSpc>
              <a:buNone/>
            </a:pPr>
            <a:r>
              <a:rPr lang="en-US" sz="1200" b="1" dirty="0">
                <a:solidFill>
                  <a:srgbClr val="E5492B"/>
                </a:solidFill>
                <a:latin typeface="Instrument Sans" pitchFamily="34" charset="0"/>
                <a:ea typeface="Instrument Sans" pitchFamily="34" charset="-122"/>
                <a:cs typeface="Instrument Sans" pitchFamily="34" charset="-120"/>
              </a:rPr>
              <a:t>Missed: the answer sits past token 256, which the model never reads</a:t>
            </a:r>
            <a:endParaRPr lang="en-US" sz="1200" dirty="0"/>
          </a:p>
        </p:txBody>
      </p:sp>
      <p:sp>
        <p:nvSpPr>
          <p:cNvPr id="10" name="Shape 8"/>
          <p:cNvSpPr/>
          <p:nvPr/>
        </p:nvSpPr>
        <p:spPr>
          <a:xfrm>
            <a:off x="4385667" y="1916410"/>
            <a:ext cx="3420566" cy="3157339"/>
          </a:xfrm>
          <a:prstGeom prst="roundRect">
            <a:avLst>
              <a:gd name="adj" fmla="val 5631"/>
            </a:avLst>
          </a:prstGeom>
          <a:solidFill>
            <a:srgbClr val="FFFFFF"/>
          </a:solidFill>
          <a:ln/>
        </p:spPr>
        <p:txBody>
          <a:bodyPr/>
          <a:lstStyle/>
          <a:p>
            <a:endParaRPr lang="en-MX"/>
          </a:p>
        </p:txBody>
      </p:sp>
      <p:sp>
        <p:nvSpPr>
          <p:cNvPr id="11" name="Text 9"/>
          <p:cNvSpPr/>
          <p:nvPr/>
        </p:nvSpPr>
        <p:spPr>
          <a:xfrm>
            <a:off x="4614267" y="2145010"/>
            <a:ext cx="30522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D1117"/>
                </a:solidFill>
                <a:latin typeface="Bricolage Grotesque" pitchFamily="34" charset="0"/>
                <a:ea typeface="Bricolage Grotesque" pitchFamily="34" charset="-122"/>
                <a:cs typeface="Bricolage Grotesque" pitchFamily="34" charset="-120"/>
              </a:rPr>
              <a:t>Too short</a:t>
            </a:r>
            <a:endParaRPr lang="en-US" sz="2000" dirty="0"/>
          </a:p>
        </p:txBody>
      </p:sp>
      <p:sp>
        <p:nvSpPr>
          <p:cNvPr id="12" name="Text 10"/>
          <p:cNvSpPr/>
          <p:nvPr/>
        </p:nvSpPr>
        <p:spPr>
          <a:xfrm>
            <a:off x="4614267" y="2551410"/>
            <a:ext cx="305226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Transaction Callbacks, 8 words</a:t>
            </a:r>
            <a:endParaRPr lang="en-US" sz="1200" dirty="0"/>
          </a:p>
        </p:txBody>
      </p:sp>
      <p:sp>
        <p:nvSpPr>
          <p:cNvPr id="13" name="Text 11"/>
          <p:cNvSpPr/>
          <p:nvPr/>
        </p:nvSpPr>
        <p:spPr>
          <a:xfrm>
            <a:off x="4614267" y="2866330"/>
            <a:ext cx="3052267"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0D1117"/>
                </a:solidFill>
                <a:latin typeface="Instrument Sans" pitchFamily="34" charset="0"/>
                <a:ea typeface="Instrument Sans" pitchFamily="34" charset="-122"/>
                <a:cs typeface="Instrument Sans" pitchFamily="34" charset="-120"/>
              </a:rPr>
              <a:t>“It runs once the transaction is committed.”</a:t>
            </a:r>
            <a:endParaRPr lang="en-US" sz="1300" dirty="0"/>
          </a:p>
        </p:txBody>
      </p:sp>
      <p:sp>
        <p:nvSpPr>
          <p:cNvPr id="14" name="Text 12"/>
          <p:cNvSpPr/>
          <p:nvPr/>
        </p:nvSpPr>
        <p:spPr>
          <a:xfrm>
            <a:off x="4614267" y="3446562"/>
            <a:ext cx="3052267" cy="504031"/>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6B7383"/>
                </a:solidFill>
                <a:latin typeface="Instrument Sans" pitchFamily="34" charset="0"/>
                <a:ea typeface="Instrument Sans" pitchFamily="34" charset="-122"/>
                <a:cs typeface="Instrument Sans" pitchFamily="34" charset="-120"/>
              </a:rPr>
              <a:t>What is “it”? The sentence naming after_commit landed in another chunk.</a:t>
            </a:r>
            <a:endParaRPr lang="en-US" sz="1300" dirty="0"/>
          </a:p>
        </p:txBody>
      </p:sp>
      <p:sp>
        <p:nvSpPr>
          <p:cNvPr id="15" name="Text 13"/>
          <p:cNvSpPr/>
          <p:nvPr/>
        </p:nvSpPr>
        <p:spPr>
          <a:xfrm>
            <a:off x="4614267" y="4026793"/>
            <a:ext cx="2963366" cy="365720"/>
          </a:xfrm>
          <a:prstGeom prst="roundRect">
            <a:avLst>
              <a:gd name="adj" fmla="val 20836"/>
            </a:avLst>
          </a:prstGeom>
          <a:solidFill>
            <a:srgbClr val="FFF6E0"/>
          </a:solidFill>
          <a:ln/>
        </p:spPr>
        <p:txBody>
          <a:bodyPr wrap="square" lIns="79282" tIns="53882" rIns="0" bIns="28482" rtlCol="0" anchor="t">
            <a:normAutofit/>
          </a:bodyPr>
          <a:lstStyle/>
          <a:p>
            <a:pPr marL="0" indent="0" algn="l">
              <a:lnSpc>
                <a:spcPts val="1680"/>
              </a:lnSpc>
              <a:buNone/>
            </a:pPr>
            <a:r>
              <a:rPr lang="en-US" sz="1200" b="1" dirty="0">
                <a:solidFill>
                  <a:srgbClr val="9A6400"/>
                </a:solidFill>
                <a:latin typeface="Instrument Sans" pitchFamily="34" charset="0"/>
                <a:ea typeface="Instrument Sans" pitchFamily="34" charset="-122"/>
                <a:cs typeface="Instrument Sans" pitchFamily="34" charset="-120"/>
              </a:rPr>
              <a:t>Weak: the chunk lost its subject</a:t>
            </a:r>
            <a:endParaRPr lang="en-US" sz="1200" dirty="0"/>
          </a:p>
        </p:txBody>
      </p:sp>
      <p:sp>
        <p:nvSpPr>
          <p:cNvPr id="16" name="Shape 14"/>
          <p:cNvSpPr/>
          <p:nvPr/>
        </p:nvSpPr>
        <p:spPr>
          <a:xfrm>
            <a:off x="7968159" y="1925935"/>
            <a:ext cx="3401516" cy="3138289"/>
          </a:xfrm>
          <a:prstGeom prst="roundRect">
            <a:avLst>
              <a:gd name="adj" fmla="val 5362"/>
            </a:avLst>
          </a:prstGeom>
          <a:solidFill>
            <a:srgbClr val="FFFFFF"/>
          </a:solidFill>
          <a:ln w="19050">
            <a:solidFill>
              <a:srgbClr val="2A5BFF"/>
            </a:solidFill>
            <a:prstDash val="solid"/>
          </a:ln>
        </p:spPr>
        <p:txBody>
          <a:bodyPr/>
          <a:lstStyle/>
          <a:p>
            <a:endParaRPr lang="en-MX"/>
          </a:p>
        </p:txBody>
      </p:sp>
      <p:sp>
        <p:nvSpPr>
          <p:cNvPr id="17" name="Text 15"/>
          <p:cNvSpPr/>
          <p:nvPr/>
        </p:nvSpPr>
        <p:spPr>
          <a:xfrm>
            <a:off x="8187234" y="2145010"/>
            <a:ext cx="3052267"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2A5BFF"/>
                </a:solidFill>
                <a:latin typeface="Bricolage Grotesque" pitchFamily="34" charset="0"/>
                <a:ea typeface="Bricolage Grotesque" pitchFamily="34" charset="-122"/>
                <a:cs typeface="Bricolage Grotesque" pitchFamily="34" charset="-120"/>
              </a:rPr>
              <a:t>Just right</a:t>
            </a:r>
            <a:endParaRPr lang="en-US" sz="2000" dirty="0"/>
          </a:p>
        </p:txBody>
      </p:sp>
      <p:sp>
        <p:nvSpPr>
          <p:cNvPr id="18" name="Text 16"/>
          <p:cNvSpPr/>
          <p:nvPr/>
        </p:nvSpPr>
        <p:spPr>
          <a:xfrm>
            <a:off x="8187234" y="2551410"/>
            <a:ext cx="317291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Transaction Callbacks, 120 words</a:t>
            </a:r>
            <a:endParaRPr lang="en-US" sz="1200" dirty="0"/>
          </a:p>
        </p:txBody>
      </p:sp>
      <p:sp>
        <p:nvSpPr>
          <p:cNvPr id="19" name="Text 17"/>
          <p:cNvSpPr/>
          <p:nvPr/>
        </p:nvSpPr>
        <p:spPr>
          <a:xfrm>
            <a:off x="8187234" y="2866330"/>
            <a:ext cx="3052267" cy="982662"/>
          </a:xfrm>
          <a:prstGeom prst="rect">
            <a:avLst/>
          </a:prstGeom>
          <a:noFill/>
          <a:ln/>
        </p:spPr>
        <p:txBody>
          <a:bodyPr wrap="square" lIns="0" tIns="0" rIns="0" bIns="0" rtlCol="0" anchor="t">
            <a:normAutofit/>
          </a:bodyPr>
          <a:lstStyle/>
          <a:p>
            <a:pPr marL="0" indent="0" algn="l">
              <a:lnSpc>
                <a:spcPts val="1885"/>
              </a:lnSpc>
              <a:buNone/>
            </a:pPr>
            <a:r>
              <a:rPr lang="en-US" sz="1300" dirty="0">
                <a:solidFill>
                  <a:srgbClr val="0D1117"/>
                </a:solidFill>
                <a:latin typeface="Instrument Sans" pitchFamily="34" charset="0"/>
                <a:ea typeface="Instrument Sans" pitchFamily="34" charset="-122"/>
                <a:cs typeface="Instrument Sans" pitchFamily="34" charset="-120"/>
              </a:rPr>
              <a:t>after_commit runs once the database transaction is committed, so the record is saved for good. Use it to send emails or enqueue jobs.</a:t>
            </a:r>
            <a:endParaRPr lang="en-US" sz="1300" dirty="0"/>
          </a:p>
        </p:txBody>
      </p:sp>
      <p:sp>
        <p:nvSpPr>
          <p:cNvPr id="20" name="Text 18"/>
          <p:cNvSpPr/>
          <p:nvPr/>
        </p:nvSpPr>
        <p:spPr>
          <a:xfrm>
            <a:off x="8187234" y="3925193"/>
            <a:ext cx="2963366" cy="579041"/>
          </a:xfrm>
          <a:prstGeom prst="roundRect">
            <a:avLst>
              <a:gd name="adj" fmla="val 13160"/>
            </a:avLst>
          </a:prstGeom>
          <a:solidFill>
            <a:srgbClr val="E8EEFF"/>
          </a:solidFill>
          <a:ln/>
        </p:spPr>
        <p:txBody>
          <a:bodyPr wrap="square" lIns="79282" tIns="53882" rIns="0" bIns="28482" rtlCol="0" anchor="t">
            <a:normAutofit/>
          </a:bodyPr>
          <a:lstStyle/>
          <a:p>
            <a:pPr marL="0" indent="0" algn="l">
              <a:lnSpc>
                <a:spcPts val="1680"/>
              </a:lnSpc>
              <a:buNone/>
            </a:pPr>
            <a:r>
              <a:rPr lang="en-US" sz="1200" b="1" dirty="0">
                <a:solidFill>
                  <a:srgbClr val="2A5BFF"/>
                </a:solidFill>
                <a:latin typeface="Instrument Sans" pitchFamily="34" charset="0"/>
                <a:ea typeface="Instrument Sans" pitchFamily="34" charset="-122"/>
                <a:cs typeface="Instrument Sans" pitchFamily="34" charset="-120"/>
              </a:rPr>
              <a:t>Match: one whole idea, with its heading</a:t>
            </a:r>
            <a:endParaRPr lang="en-US" sz="1200" dirty="0"/>
          </a:p>
        </p:txBody>
      </p:sp>
      <p:sp>
        <p:nvSpPr>
          <p:cNvPr id="21" name="Shape 19"/>
          <p:cNvSpPr/>
          <p:nvPr/>
        </p:nvSpPr>
        <p:spPr>
          <a:xfrm>
            <a:off x="812800" y="5302349"/>
            <a:ext cx="10566400" cy="535880"/>
          </a:xfrm>
          <a:prstGeom prst="roundRect">
            <a:avLst>
              <a:gd name="adj" fmla="val 28439"/>
            </a:avLst>
          </a:prstGeom>
          <a:solidFill>
            <a:srgbClr val="0D1117"/>
          </a:solidFill>
          <a:ln/>
        </p:spPr>
        <p:txBody>
          <a:bodyPr/>
          <a:lstStyle/>
          <a:p>
            <a:endParaRPr lang="en-MX"/>
          </a:p>
        </p:txBody>
      </p:sp>
      <p:sp>
        <p:nvSpPr>
          <p:cNvPr id="22" name="Text 20"/>
          <p:cNvSpPr/>
          <p:nvPr/>
        </p:nvSpPr>
        <p:spPr>
          <a:xfrm>
            <a:off x="1041400" y="5454749"/>
            <a:ext cx="3322538"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2F4F7"/>
                </a:solidFill>
                <a:latin typeface="JetBrains Mono" pitchFamily="49" charset="0"/>
                <a:ea typeface="JetBrains Mono" pitchFamily="49" charset="-122"/>
                <a:cs typeface="JetBrains Mono" pitchFamily="49" charset="-120"/>
              </a:rPr>
              <a:t>GuideChunker.new(max_words: </a:t>
            </a:r>
            <a:r>
              <a:rPr lang="en-US" sz="1300" dirty="0">
                <a:solidFill>
                  <a:srgbClr val="7DA2FF"/>
                </a:solidFill>
                <a:latin typeface="JetBrains Mono" pitchFamily="49" charset="0"/>
                <a:ea typeface="JetBrains Mono" pitchFamily="49" charset="-122"/>
                <a:cs typeface="JetBrains Mono" pitchFamily="49" charset="-120"/>
              </a:rPr>
              <a:t>150</a:t>
            </a:r>
            <a:r>
              <a:rPr lang="en-US" sz="1300" dirty="0">
                <a:solidFill>
                  <a:srgbClr val="F2F4F7"/>
                </a:solidFill>
                <a:latin typeface="JetBrains Mono" pitchFamily="49" charset="0"/>
                <a:ea typeface="JetBrains Mono" pitchFamily="49" charset="-122"/>
                <a:cs typeface="JetBrains Mono" pitchFamily="49" charset="-120"/>
              </a:rPr>
              <a:t>)</a:t>
            </a:r>
            <a:endParaRPr lang="en-US" sz="1300" dirty="0"/>
          </a:p>
        </p:txBody>
      </p:sp>
      <p:sp>
        <p:nvSpPr>
          <p:cNvPr id="23" name="Text 21"/>
          <p:cNvSpPr/>
          <p:nvPr/>
        </p:nvSpPr>
        <p:spPr>
          <a:xfrm>
            <a:off x="4363938" y="5454749"/>
            <a:ext cx="5171599"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AA3B2"/>
                </a:solidFill>
                <a:latin typeface="Instrument Sans" pitchFamily="34" charset="0"/>
                <a:ea typeface="Instrument Sans" pitchFamily="34" charset="-122"/>
                <a:cs typeface="Instrument Sans" pitchFamily="34" charset="-120"/>
              </a:rPr>
              <a:t>splits at headings, then packs paragraphs up to 150 words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Three ways to search the same table</a:t>
            </a:r>
            <a:endParaRPr lang="en-US" sz="3800" dirty="0"/>
          </a:p>
        </p:txBody>
      </p:sp>
      <p:sp>
        <p:nvSpPr>
          <p:cNvPr id="3" name="Shape 1"/>
          <p:cNvSpPr/>
          <p:nvPr/>
        </p:nvSpPr>
        <p:spPr>
          <a:xfrm>
            <a:off x="812800" y="1675110"/>
            <a:ext cx="4085134" cy="1673721"/>
          </a:xfrm>
          <a:prstGeom prst="roundRect">
            <a:avLst>
              <a:gd name="adj" fmla="val 10623"/>
            </a:avLst>
          </a:prstGeom>
          <a:solidFill>
            <a:srgbClr val="FFFFFF"/>
          </a:solidFill>
          <a:ln/>
        </p:spPr>
        <p:txBody>
          <a:bodyPr/>
          <a:lstStyle/>
          <a:p>
            <a:endParaRPr lang="en-MX"/>
          </a:p>
        </p:txBody>
      </p:sp>
      <p:sp>
        <p:nvSpPr>
          <p:cNvPr id="4" name="Text 2"/>
          <p:cNvSpPr/>
          <p:nvPr/>
        </p:nvSpPr>
        <p:spPr>
          <a:xfrm>
            <a:off x="1066800" y="1903710"/>
            <a:ext cx="368444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D1117"/>
                </a:solidFill>
                <a:latin typeface="Bricolage Grotesque" pitchFamily="34" charset="0"/>
                <a:ea typeface="Bricolage Grotesque" pitchFamily="34" charset="-122"/>
                <a:cs typeface="Bricolage Grotesque" pitchFamily="34" charset="-120"/>
              </a:rPr>
              <a:t>Keyword</a:t>
            </a:r>
            <a:endParaRPr lang="en-US" sz="2200" dirty="0"/>
          </a:p>
        </p:txBody>
      </p:sp>
      <p:sp>
        <p:nvSpPr>
          <p:cNvPr id="5" name="Text 3"/>
          <p:cNvSpPr/>
          <p:nvPr/>
        </p:nvSpPr>
        <p:spPr>
          <a:xfrm>
            <a:off x="1066800" y="2315170"/>
            <a:ext cx="36844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Chunk.keyword_search(q)</a:t>
            </a:r>
            <a:endParaRPr lang="en-US" sz="1200" dirty="0"/>
          </a:p>
        </p:txBody>
      </p:sp>
      <p:sp>
        <p:nvSpPr>
          <p:cNvPr id="6" name="Text 4"/>
          <p:cNvSpPr/>
          <p:nvPr/>
        </p:nvSpPr>
        <p:spPr>
          <a:xfrm>
            <a:off x="1066800" y="2604691"/>
            <a:ext cx="3684448"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B4250"/>
                </a:solidFill>
                <a:latin typeface="Instrument Sans" pitchFamily="34" charset="0"/>
                <a:ea typeface="Instrument Sans" pitchFamily="34" charset="-122"/>
                <a:cs typeface="Instrument Sans" pitchFamily="34" charset="-120"/>
              </a:rPr>
              <a:t>Every word must match. Wins on exact names like after_commit.</a:t>
            </a:r>
            <a:endParaRPr lang="en-US" sz="1400" dirty="0"/>
          </a:p>
        </p:txBody>
      </p:sp>
      <p:sp>
        <p:nvSpPr>
          <p:cNvPr id="7" name="Shape 5"/>
          <p:cNvSpPr/>
          <p:nvPr/>
        </p:nvSpPr>
        <p:spPr>
          <a:xfrm>
            <a:off x="812800" y="3501231"/>
            <a:ext cx="4085134" cy="1673721"/>
          </a:xfrm>
          <a:prstGeom prst="roundRect">
            <a:avLst>
              <a:gd name="adj" fmla="val 10623"/>
            </a:avLst>
          </a:prstGeom>
          <a:solidFill>
            <a:srgbClr val="FFFFFF"/>
          </a:solidFill>
          <a:ln/>
        </p:spPr>
        <p:txBody>
          <a:bodyPr/>
          <a:lstStyle/>
          <a:p>
            <a:endParaRPr lang="en-MX"/>
          </a:p>
        </p:txBody>
      </p:sp>
      <p:sp>
        <p:nvSpPr>
          <p:cNvPr id="8" name="Text 6"/>
          <p:cNvSpPr/>
          <p:nvPr/>
        </p:nvSpPr>
        <p:spPr>
          <a:xfrm>
            <a:off x="1066800" y="3729831"/>
            <a:ext cx="3684448" cy="360660"/>
          </a:xfrm>
          <a:prstGeom prst="rect">
            <a:avLst/>
          </a:prstGeom>
          <a:noFill/>
          <a:ln/>
        </p:spPr>
        <p:txBody>
          <a:bodyPr wrap="square" lIns="0" tIns="0" rIns="0" bIns="0" rtlCol="0" anchor="t">
            <a:normAutofit/>
          </a:bodyPr>
          <a:lstStyle/>
          <a:p>
            <a:pPr marL="0" indent="0" algn="l">
              <a:lnSpc>
                <a:spcPts val="2640"/>
              </a:lnSpc>
              <a:buNone/>
            </a:pPr>
            <a:r>
              <a:rPr lang="en-US" sz="2200" b="1" dirty="0">
                <a:solidFill>
                  <a:srgbClr val="0D1117"/>
                </a:solidFill>
                <a:latin typeface="Bricolage Grotesque" pitchFamily="34" charset="0"/>
                <a:ea typeface="Bricolage Grotesque" pitchFamily="34" charset="-122"/>
                <a:cs typeface="Bricolage Grotesque" pitchFamily="34" charset="-120"/>
              </a:rPr>
              <a:t>Vector</a:t>
            </a:r>
            <a:endParaRPr lang="en-US" sz="2200" dirty="0"/>
          </a:p>
        </p:txBody>
      </p:sp>
      <p:sp>
        <p:nvSpPr>
          <p:cNvPr id="9" name="Text 7"/>
          <p:cNvSpPr/>
          <p:nvPr/>
        </p:nvSpPr>
        <p:spPr>
          <a:xfrm>
            <a:off x="1066800" y="4141291"/>
            <a:ext cx="368444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Chunk.vector_search(q)</a:t>
            </a:r>
            <a:endParaRPr lang="en-US" sz="1200" dirty="0"/>
          </a:p>
        </p:txBody>
      </p:sp>
      <p:sp>
        <p:nvSpPr>
          <p:cNvPr id="10" name="Text 8"/>
          <p:cNvSpPr/>
          <p:nvPr/>
        </p:nvSpPr>
        <p:spPr>
          <a:xfrm>
            <a:off x="1066800" y="4430812"/>
            <a:ext cx="3684448"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B4250"/>
                </a:solidFill>
                <a:latin typeface="Instrument Sans" pitchFamily="34" charset="0"/>
                <a:ea typeface="Instrument Sans" pitchFamily="34" charset="-122"/>
                <a:cs typeface="Instrument Sans" pitchFamily="34" charset="-120"/>
              </a:rPr>
              <a:t>Closest meaning. Wins when people ask in their own words.</a:t>
            </a:r>
            <a:endParaRPr lang="en-US" sz="1400" dirty="0"/>
          </a:p>
        </p:txBody>
      </p:sp>
      <p:sp>
        <p:nvSpPr>
          <p:cNvPr id="11" name="Shape 9"/>
          <p:cNvSpPr/>
          <p:nvPr/>
        </p:nvSpPr>
        <p:spPr>
          <a:xfrm>
            <a:off x="5050334" y="1675110"/>
            <a:ext cx="6328866" cy="3499842"/>
          </a:xfrm>
          <a:prstGeom prst="roundRect">
            <a:avLst>
              <a:gd name="adj" fmla="val 5080"/>
            </a:avLst>
          </a:prstGeom>
          <a:solidFill>
            <a:srgbClr val="2A5BFF"/>
          </a:solidFill>
          <a:ln/>
        </p:spPr>
        <p:txBody>
          <a:bodyPr/>
          <a:lstStyle/>
          <a:p>
            <a:endParaRPr lang="en-MX"/>
          </a:p>
        </p:txBody>
      </p:sp>
      <p:sp>
        <p:nvSpPr>
          <p:cNvPr id="12" name="Text 10"/>
          <p:cNvSpPr/>
          <p:nvPr/>
        </p:nvSpPr>
        <p:spPr>
          <a:xfrm>
            <a:off x="5355134" y="1979910"/>
            <a:ext cx="5890844" cy="584200"/>
          </a:xfrm>
          <a:prstGeom prst="rect">
            <a:avLst/>
          </a:prstGeom>
          <a:noFill/>
          <a:ln/>
        </p:spPr>
        <p:txBody>
          <a:bodyPr wrap="square" lIns="0" tIns="0" rIns="0" bIns="0" rtlCol="0" anchor="t">
            <a:normAutofit/>
          </a:bodyPr>
          <a:lstStyle/>
          <a:p>
            <a:pPr marL="0" indent="0" algn="l">
              <a:lnSpc>
                <a:spcPts val="4400"/>
              </a:lnSpc>
              <a:buNone/>
            </a:pPr>
            <a:r>
              <a:rPr lang="en-US" sz="4400" b="1" kern="0" spc="-90" dirty="0">
                <a:solidFill>
                  <a:srgbClr val="FFFFFF"/>
                </a:solidFill>
                <a:latin typeface="Bricolage Grotesque" pitchFamily="34" charset="0"/>
                <a:ea typeface="Bricolage Grotesque" pitchFamily="34" charset="-122"/>
                <a:cs typeface="Bricolage Grotesque" pitchFamily="34" charset="-120"/>
              </a:rPr>
              <a:t>Hybrid</a:t>
            </a:r>
            <a:endParaRPr lang="en-US" sz="4400" dirty="0"/>
          </a:p>
        </p:txBody>
      </p:sp>
      <p:sp>
        <p:nvSpPr>
          <p:cNvPr id="13" name="Text 11"/>
          <p:cNvSpPr/>
          <p:nvPr/>
        </p:nvSpPr>
        <p:spPr>
          <a:xfrm>
            <a:off x="5355134" y="2640310"/>
            <a:ext cx="5890844"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DCE5FF"/>
                </a:solidFill>
                <a:latin typeface="JetBrains Mono" pitchFamily="49" charset="0"/>
                <a:ea typeface="JetBrains Mono" pitchFamily="49" charset="-122"/>
                <a:cs typeface="JetBrains Mono" pitchFamily="49" charset="-120"/>
              </a:rPr>
              <a:t>Chunk.hybrid_search(q)</a:t>
            </a:r>
            <a:endParaRPr lang="en-US" sz="1300" dirty="0"/>
          </a:p>
        </p:txBody>
      </p:sp>
      <p:sp>
        <p:nvSpPr>
          <p:cNvPr id="14" name="Text 12"/>
          <p:cNvSpPr/>
          <p:nvPr/>
        </p:nvSpPr>
        <p:spPr>
          <a:xfrm>
            <a:off x="5355134" y="3944441"/>
            <a:ext cx="5890844" cy="951111"/>
          </a:xfrm>
          <a:prstGeom prst="rect">
            <a:avLst/>
          </a:prstGeom>
          <a:noFill/>
          <a:ln/>
        </p:spPr>
        <p:txBody>
          <a:bodyPr wrap="square" lIns="0" tIns="0" rIns="0" bIns="0" rtlCol="0" anchor="t">
            <a:normAutofit/>
          </a:bodyPr>
          <a:lstStyle/>
          <a:p>
            <a:pPr marL="0" indent="0" algn="l">
              <a:lnSpc>
                <a:spcPts val="2430"/>
              </a:lnSpc>
              <a:buNone/>
            </a:pPr>
            <a:r>
              <a:rPr lang="en-US" sz="1800" b="1" dirty="0">
                <a:solidFill>
                  <a:srgbClr val="FFFFFF"/>
                </a:solidFill>
                <a:latin typeface="Instrument Sans" pitchFamily="34" charset="0"/>
                <a:ea typeface="Instrument Sans" pitchFamily="34" charset="-122"/>
                <a:cs typeface="Instrument Sans" pitchFamily="34" charset="-120"/>
              </a:rPr>
              <a:t>Runs both and keeps what ranks well in either. It’s what production search usually does, because real users type both.</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The three searches in code</a:t>
            </a:r>
            <a:endParaRPr lang="en-US" sz="3800" dirty="0"/>
          </a:p>
        </p:txBody>
      </p:sp>
      <p:sp>
        <p:nvSpPr>
          <p:cNvPr id="3" name="Shape 1"/>
          <p:cNvSpPr/>
          <p:nvPr/>
        </p:nvSpPr>
        <p:spPr>
          <a:xfrm>
            <a:off x="812800" y="1471910"/>
            <a:ext cx="10566400" cy="1104900"/>
          </a:xfrm>
          <a:prstGeom prst="roundRect">
            <a:avLst>
              <a:gd name="adj" fmla="val 13793"/>
            </a:avLst>
          </a:prstGeom>
          <a:solidFill>
            <a:srgbClr val="0D1117"/>
          </a:solidFill>
          <a:ln/>
        </p:spPr>
        <p:txBody>
          <a:bodyPr/>
          <a:lstStyle/>
          <a:p>
            <a:endParaRPr lang="en-MX"/>
          </a:p>
        </p:txBody>
      </p:sp>
      <p:sp>
        <p:nvSpPr>
          <p:cNvPr id="4" name="Text 2"/>
          <p:cNvSpPr/>
          <p:nvPr/>
        </p:nvSpPr>
        <p:spPr>
          <a:xfrm>
            <a:off x="1041400" y="1624310"/>
            <a:ext cx="96371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F4F7"/>
                </a:solidFill>
                <a:latin typeface="Bricolage Grotesque" pitchFamily="34" charset="0"/>
                <a:ea typeface="Bricolage Grotesque" pitchFamily="34" charset="-122"/>
                <a:cs typeface="Bricolage Grotesque" pitchFamily="34" charset="-120"/>
              </a:rPr>
              <a:t>Keyword</a:t>
            </a:r>
            <a:endParaRPr lang="en-US" sz="1500" dirty="0"/>
          </a:p>
        </p:txBody>
      </p:sp>
      <p:sp>
        <p:nvSpPr>
          <p:cNvPr id="5" name="Text 3"/>
          <p:cNvSpPr/>
          <p:nvPr/>
        </p:nvSpPr>
        <p:spPr>
          <a:xfrm>
            <a:off x="2005112" y="1662410"/>
            <a:ext cx="4087297"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2"/>
                </a:solidFill>
                <a:latin typeface="Instrument Sans" pitchFamily="34" charset="0"/>
                <a:ea typeface="Instrument Sans" pitchFamily="34" charset="-122"/>
                <a:cs typeface="Instrument Sans" pitchFamily="34" charset="-120"/>
              </a:rPr>
              <a:t>Postgres full-text search: every word must match</a:t>
            </a:r>
            <a:endParaRPr lang="en-US" sz="1200" dirty="0"/>
          </a:p>
        </p:txBody>
      </p:sp>
      <p:sp>
        <p:nvSpPr>
          <p:cNvPr id="6" name="Text 4"/>
          <p:cNvSpPr/>
          <p:nvPr/>
        </p:nvSpPr>
        <p:spPr>
          <a:xfrm>
            <a:off x="1041400" y="1967210"/>
            <a:ext cx="10412476"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2F4F7"/>
                </a:solidFill>
                <a:latin typeface="JetBrains Mono" pitchFamily="49" charset="0"/>
                <a:ea typeface="JetBrains Mono" pitchFamily="49" charset="-122"/>
                <a:cs typeface="JetBrains Mono" pitchFamily="49" charset="-120"/>
              </a:rPr>
              <a:t>Chunk.where(</a:t>
            </a:r>
            <a:r>
              <a:rPr lang="en-US" sz="1200" dirty="0">
                <a:solidFill>
                  <a:srgbClr val="6FD6C4"/>
                </a:solidFill>
                <a:latin typeface="JetBrains Mono" pitchFamily="49" charset="0"/>
                <a:ea typeface="JetBrains Mono" pitchFamily="49" charset="-122"/>
                <a:cs typeface="JetBrains Mono" pitchFamily="49" charset="-120"/>
              </a:rPr>
              <a:t>"to_tsvector('english', body) @@ plainto_tsquery('english', ?)"</a:t>
            </a:r>
            <a:r>
              <a:rPr lang="en-US" sz="1200" dirty="0">
                <a:solidFill>
                  <a:srgbClr val="F2F4F7"/>
                </a:solidFill>
                <a:latin typeface="JetBrains Mono" pitchFamily="49" charset="0"/>
                <a:ea typeface="JetBrains Mono" pitchFamily="49" charset="-122"/>
                <a:cs typeface="JetBrains Mono" pitchFamily="49" charset="-120"/>
              </a:rPr>
              <a:t>, q)</a:t>
            </a:r>
            <a:endParaRPr lang="en-US" sz="1200" dirty="0"/>
          </a:p>
          <a:p>
            <a:pPr marL="0" indent="0" algn="l">
              <a:lnSpc>
                <a:spcPts val="1800"/>
              </a:lnSpc>
              <a:buNone/>
            </a:pPr>
            <a:r>
              <a:rPr lang="en-US" sz="1200" dirty="0">
                <a:solidFill>
                  <a:srgbClr val="F2F4F7"/>
                </a:solidFill>
                <a:latin typeface="JetBrains Mono" pitchFamily="49" charset="0"/>
                <a:ea typeface="JetBrains Mono" pitchFamily="49" charset="-122"/>
                <a:cs typeface="JetBrains Mono" pitchFamily="49" charset="-120"/>
              </a:rPr>
              <a:t>     .limit(5)</a:t>
            </a:r>
            <a:endParaRPr lang="en-US" sz="1200" dirty="0"/>
          </a:p>
        </p:txBody>
      </p:sp>
      <p:sp>
        <p:nvSpPr>
          <p:cNvPr id="7" name="Shape 5"/>
          <p:cNvSpPr/>
          <p:nvPr/>
        </p:nvSpPr>
        <p:spPr>
          <a:xfrm>
            <a:off x="812800" y="2729210"/>
            <a:ext cx="10566400" cy="1104900"/>
          </a:xfrm>
          <a:prstGeom prst="roundRect">
            <a:avLst>
              <a:gd name="adj" fmla="val 13793"/>
            </a:avLst>
          </a:prstGeom>
          <a:solidFill>
            <a:srgbClr val="0D1117"/>
          </a:solidFill>
          <a:ln/>
        </p:spPr>
        <p:txBody>
          <a:bodyPr/>
          <a:lstStyle/>
          <a:p>
            <a:endParaRPr lang="en-MX"/>
          </a:p>
        </p:txBody>
      </p:sp>
      <p:sp>
        <p:nvSpPr>
          <p:cNvPr id="8" name="Text 6"/>
          <p:cNvSpPr/>
          <p:nvPr/>
        </p:nvSpPr>
        <p:spPr>
          <a:xfrm>
            <a:off x="1041400" y="2881610"/>
            <a:ext cx="735449"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2F4F7"/>
                </a:solidFill>
                <a:latin typeface="Bricolage Grotesque" pitchFamily="34" charset="0"/>
                <a:ea typeface="Bricolage Grotesque" pitchFamily="34" charset="-122"/>
                <a:cs typeface="Bricolage Grotesque" pitchFamily="34" charset="-120"/>
              </a:rPr>
              <a:t>Vector</a:t>
            </a:r>
            <a:endParaRPr lang="en-US" sz="1500" dirty="0"/>
          </a:p>
        </p:txBody>
      </p:sp>
      <p:sp>
        <p:nvSpPr>
          <p:cNvPr id="9" name="Text 7"/>
          <p:cNvSpPr/>
          <p:nvPr/>
        </p:nvSpPr>
        <p:spPr>
          <a:xfrm>
            <a:off x="1781274" y="2919710"/>
            <a:ext cx="379833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2"/>
                </a:solidFill>
                <a:latin typeface="Instrument Sans" pitchFamily="34" charset="0"/>
                <a:ea typeface="Instrument Sans" pitchFamily="34" charset="-122"/>
                <a:cs typeface="Instrument Sans" pitchFamily="34" charset="-120"/>
              </a:rPr>
              <a:t>embed the question, order by cosine distance</a:t>
            </a:r>
            <a:endParaRPr lang="en-US" sz="1200" dirty="0"/>
          </a:p>
        </p:txBody>
      </p:sp>
      <p:sp>
        <p:nvSpPr>
          <p:cNvPr id="10" name="Text 8"/>
          <p:cNvSpPr/>
          <p:nvPr/>
        </p:nvSpPr>
        <p:spPr>
          <a:xfrm>
            <a:off x="1041400" y="3224510"/>
            <a:ext cx="10412476" cy="4826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2F4F7"/>
                </a:solidFill>
                <a:latin typeface="JetBrains Mono" pitchFamily="49" charset="0"/>
                <a:ea typeface="JetBrains Mono" pitchFamily="49" charset="-122"/>
                <a:cs typeface="JetBrains Mono" pitchFamily="49" charset="-120"/>
              </a:rPr>
              <a:t>Chunk.nearest_neighbors(</a:t>
            </a:r>
            <a:r>
              <a:rPr lang="en-US" sz="1200" dirty="0">
                <a:solidFill>
                  <a:srgbClr val="7DA2FF"/>
                </a:solidFill>
                <a:latin typeface="JetBrains Mono" pitchFamily="49" charset="0"/>
                <a:ea typeface="JetBrains Mono" pitchFamily="49" charset="-122"/>
                <a:cs typeface="JetBrains Mono" pitchFamily="49" charset="-120"/>
              </a:rPr>
              <a:t>:embedding</a:t>
            </a:r>
            <a:r>
              <a:rPr lang="en-US" sz="1200" dirty="0">
                <a:solidFill>
                  <a:srgbClr val="F2F4F7"/>
                </a:solidFill>
                <a:latin typeface="JetBrains Mono" pitchFamily="49" charset="0"/>
                <a:ea typeface="JetBrains Mono" pitchFamily="49" charset="-122"/>
                <a:cs typeface="JetBrains Mono" pitchFamily="49" charset="-120"/>
              </a:rPr>
              <a:t>, Embedder.call(q), distance: </a:t>
            </a:r>
            <a:r>
              <a:rPr lang="en-US" sz="1200" dirty="0">
                <a:solidFill>
                  <a:srgbClr val="6FD6C4"/>
                </a:solidFill>
                <a:latin typeface="JetBrains Mono" pitchFamily="49" charset="0"/>
                <a:ea typeface="JetBrains Mono" pitchFamily="49" charset="-122"/>
                <a:cs typeface="JetBrains Mono" pitchFamily="49" charset="-120"/>
              </a:rPr>
              <a:t>"cosine"</a:t>
            </a:r>
            <a:r>
              <a:rPr lang="en-US" sz="1200" dirty="0">
                <a:solidFill>
                  <a:srgbClr val="F2F4F7"/>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2F4F7"/>
                </a:solidFill>
                <a:latin typeface="JetBrains Mono" pitchFamily="49" charset="0"/>
                <a:ea typeface="JetBrains Mono" pitchFamily="49" charset="-122"/>
                <a:cs typeface="JetBrains Mono" pitchFamily="49" charset="-120"/>
              </a:rPr>
              <a:t>     .limit(5)</a:t>
            </a:r>
            <a:endParaRPr lang="en-US" sz="1200" dirty="0"/>
          </a:p>
        </p:txBody>
      </p:sp>
      <p:sp>
        <p:nvSpPr>
          <p:cNvPr id="11" name="Shape 9"/>
          <p:cNvSpPr/>
          <p:nvPr/>
        </p:nvSpPr>
        <p:spPr>
          <a:xfrm>
            <a:off x="812800" y="3986510"/>
            <a:ext cx="10566400" cy="2019300"/>
          </a:xfrm>
          <a:prstGeom prst="roundRect">
            <a:avLst>
              <a:gd name="adj" fmla="val 7547"/>
            </a:avLst>
          </a:prstGeom>
          <a:solidFill>
            <a:srgbClr val="2A5BFF"/>
          </a:solidFill>
          <a:ln/>
        </p:spPr>
        <p:txBody>
          <a:bodyPr/>
          <a:lstStyle/>
          <a:p>
            <a:endParaRPr lang="en-MX"/>
          </a:p>
        </p:txBody>
      </p:sp>
      <p:sp>
        <p:nvSpPr>
          <p:cNvPr id="12" name="Text 10"/>
          <p:cNvSpPr/>
          <p:nvPr/>
        </p:nvSpPr>
        <p:spPr>
          <a:xfrm>
            <a:off x="1041400" y="4138910"/>
            <a:ext cx="757118"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FFFFFF"/>
                </a:solidFill>
                <a:latin typeface="Bricolage Grotesque" pitchFamily="34" charset="0"/>
                <a:ea typeface="Bricolage Grotesque" pitchFamily="34" charset="-122"/>
                <a:cs typeface="Bricolage Grotesque" pitchFamily="34" charset="-120"/>
              </a:rPr>
              <a:t>Hybrid</a:t>
            </a:r>
            <a:endParaRPr lang="en-US" sz="1500" dirty="0"/>
          </a:p>
        </p:txBody>
      </p:sp>
      <p:sp>
        <p:nvSpPr>
          <p:cNvPr id="13" name="Text 11"/>
          <p:cNvSpPr/>
          <p:nvPr/>
        </p:nvSpPr>
        <p:spPr>
          <a:xfrm>
            <a:off x="1799332" y="4177010"/>
            <a:ext cx="552831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5FF"/>
                </a:solidFill>
                <a:latin typeface="Instrument Sans" pitchFamily="34" charset="0"/>
                <a:ea typeface="Instrument Sans" pitchFamily="34" charset="-122"/>
                <a:cs typeface="Instrument Sans" pitchFamily="34" charset="-120"/>
              </a:rPr>
              <a:t>run both, add up a score from each ranking (reciprocal rank fusion)</a:t>
            </a:r>
            <a:endParaRPr lang="en-US" sz="1200" dirty="0"/>
          </a:p>
        </p:txBody>
      </p:sp>
      <p:sp>
        <p:nvSpPr>
          <p:cNvPr id="14" name="Text 12"/>
          <p:cNvSpPr/>
          <p:nvPr/>
        </p:nvSpPr>
        <p:spPr>
          <a:xfrm>
            <a:off x="1041400" y="4481810"/>
            <a:ext cx="10412476" cy="13970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lists  = [keyword_search(q).to_a, vector_search(q).to_a]</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scores = Hash.new(0.0)</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lists.each do |list|</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  list.each_with_index { |chunk, i| scores[chunk.id] += 1.0 / (60 + i + 1) }</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end</a:t>
            </a:r>
            <a:endParaRPr lang="en-US" sz="1200" dirty="0"/>
          </a:p>
          <a:p>
            <a:pPr marL="0" indent="0" algn="l">
              <a:lnSpc>
                <a:spcPts val="1800"/>
              </a:lnSpc>
              <a:buNone/>
            </a:pPr>
            <a:r>
              <a:rPr lang="en-US" sz="1200" dirty="0">
                <a:solidFill>
                  <a:srgbClr val="FFFFFF"/>
                </a:solidFill>
                <a:latin typeface="JetBrains Mono" pitchFamily="49" charset="0"/>
                <a:ea typeface="JetBrains Mono" pitchFamily="49" charset="-122"/>
                <a:cs typeface="JetBrains Mono" pitchFamily="49" charset="-120"/>
              </a:rPr>
              <a:t>scores.sort_by { |_id, score| -score }.first(5)</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838200"/>
          </a:xfrm>
          <a:prstGeom prst="rect">
            <a:avLst/>
          </a:prstGeom>
          <a:noFill/>
          <a:ln/>
        </p:spPr>
        <p:txBody>
          <a:bodyPr wrap="square" lIns="0" tIns="0" rIns="0" bIns="0" rtlCol="0" anchor="t">
            <a:normAutofit/>
          </a:bodyPr>
          <a:lstStyle/>
          <a:p>
            <a:pPr marL="0" indent="0" algn="l">
              <a:lnSpc>
                <a:spcPts val="6400"/>
              </a:lnSpc>
              <a:buNone/>
            </a:pPr>
            <a:r>
              <a:rPr lang="en-US" sz="6400" b="1" i="0" kern="0" spc="-130" dirty="0">
                <a:solidFill>
                  <a:srgbClr val="F2F4F7"/>
                </a:solidFill>
                <a:latin typeface="Bricolage Grotesque" pitchFamily="34" charset="0"/>
                <a:ea typeface="Bricolage Grotesque" pitchFamily="34" charset="-122"/>
                <a:cs typeface="Bricolage Grotesque" pitchFamily="34" charset="-120"/>
              </a:rPr>
              <a:t>Ask the Rails Guides</a:t>
            </a:r>
            <a:endParaRPr lang="en-US" sz="6400" dirty="0"/>
          </a:p>
        </p:txBody>
      </p:sp>
      <p:sp>
        <p:nvSpPr>
          <p:cNvPr id="3" name="Text 1"/>
          <p:cNvSpPr/>
          <p:nvPr/>
        </p:nvSpPr>
        <p:spPr>
          <a:xfrm>
            <a:off x="812800" y="1778000"/>
            <a:ext cx="1088339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9AA3B2"/>
                </a:solidFill>
                <a:latin typeface="JetBrains Mono" pitchFamily="49" charset="0"/>
                <a:ea typeface="JetBrains Mono" pitchFamily="49" charset="-122"/>
                <a:cs typeface="JetBrains Mono" pitchFamily="49" charset="-120"/>
              </a:rPr>
              <a:t>bin/rails server → localhost:3000</a:t>
            </a:r>
            <a:endParaRPr lang="en-US" sz="1300" dirty="0"/>
          </a:p>
        </p:txBody>
      </p:sp>
      <p:sp>
        <p:nvSpPr>
          <p:cNvPr id="4" name="Shape 2"/>
          <p:cNvSpPr/>
          <p:nvPr/>
        </p:nvSpPr>
        <p:spPr>
          <a:xfrm>
            <a:off x="812800" y="4752380"/>
            <a:ext cx="2011660" cy="1292820"/>
          </a:xfrm>
          <a:prstGeom prst="roundRect">
            <a:avLst>
              <a:gd name="adj" fmla="val 11788"/>
            </a:avLst>
          </a:prstGeom>
          <a:solidFill>
            <a:srgbClr val="161B22"/>
          </a:solidFill>
          <a:ln/>
        </p:spPr>
        <p:txBody>
          <a:bodyPr/>
          <a:lstStyle/>
          <a:p>
            <a:endParaRPr lang="en-MX"/>
          </a:p>
        </p:txBody>
      </p:sp>
      <p:sp>
        <p:nvSpPr>
          <p:cNvPr id="5" name="Text 3"/>
          <p:cNvSpPr/>
          <p:nvPr/>
        </p:nvSpPr>
        <p:spPr>
          <a:xfrm>
            <a:off x="990600" y="4955580"/>
            <a:ext cx="170686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7DA2FF"/>
                </a:solidFill>
                <a:latin typeface="Bricolage Grotesque" pitchFamily="34" charset="0"/>
                <a:ea typeface="Bricolage Grotesque" pitchFamily="34" charset="-122"/>
                <a:cs typeface="Bricolage Grotesque" pitchFamily="34" charset="-120"/>
              </a:rPr>
              <a:t>1</a:t>
            </a:r>
            <a:endParaRPr lang="en-US" sz="2400" dirty="0"/>
          </a:p>
        </p:txBody>
      </p:sp>
      <p:sp>
        <p:nvSpPr>
          <p:cNvPr id="6" name="Text 4"/>
          <p:cNvSpPr/>
          <p:nvPr/>
        </p:nvSpPr>
        <p:spPr>
          <a:xfrm>
            <a:off x="990600" y="5361980"/>
            <a:ext cx="170686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2F4F7"/>
                </a:solidFill>
                <a:latin typeface="Instrument Sans" pitchFamily="34" charset="0"/>
                <a:ea typeface="Instrument Sans" pitchFamily="34" charset="-122"/>
                <a:cs typeface="Instrument Sans" pitchFamily="34" charset="-120"/>
              </a:rPr>
              <a:t>Meaning beats keywords</a:t>
            </a:r>
            <a:endParaRPr lang="en-US" sz="1400" dirty="0"/>
          </a:p>
        </p:txBody>
      </p:sp>
      <p:sp>
        <p:nvSpPr>
          <p:cNvPr id="7" name="Shape 5"/>
          <p:cNvSpPr/>
          <p:nvPr/>
        </p:nvSpPr>
        <p:spPr>
          <a:xfrm>
            <a:off x="2951460" y="4752380"/>
            <a:ext cx="2011759" cy="1292820"/>
          </a:xfrm>
          <a:prstGeom prst="roundRect">
            <a:avLst>
              <a:gd name="adj" fmla="val 11788"/>
            </a:avLst>
          </a:prstGeom>
          <a:solidFill>
            <a:srgbClr val="161B22"/>
          </a:solidFill>
          <a:ln/>
        </p:spPr>
        <p:txBody>
          <a:bodyPr/>
          <a:lstStyle/>
          <a:p>
            <a:endParaRPr lang="en-MX"/>
          </a:p>
        </p:txBody>
      </p:sp>
      <p:sp>
        <p:nvSpPr>
          <p:cNvPr id="8" name="Text 6"/>
          <p:cNvSpPr/>
          <p:nvPr/>
        </p:nvSpPr>
        <p:spPr>
          <a:xfrm>
            <a:off x="3129260" y="4955580"/>
            <a:ext cx="1706959"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7DA2FF"/>
                </a:solidFill>
                <a:latin typeface="Bricolage Grotesque" pitchFamily="34" charset="0"/>
                <a:ea typeface="Bricolage Grotesque" pitchFamily="34" charset="-122"/>
                <a:cs typeface="Bricolage Grotesque" pitchFamily="34" charset="-120"/>
              </a:rPr>
              <a:t>2</a:t>
            </a:r>
            <a:endParaRPr lang="en-US" sz="2400" dirty="0"/>
          </a:p>
        </p:txBody>
      </p:sp>
      <p:sp>
        <p:nvSpPr>
          <p:cNvPr id="9" name="Text 7"/>
          <p:cNvSpPr/>
          <p:nvPr/>
        </p:nvSpPr>
        <p:spPr>
          <a:xfrm>
            <a:off x="3129260" y="5361980"/>
            <a:ext cx="1706959"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2F4F7"/>
                </a:solidFill>
                <a:latin typeface="Instrument Sans" pitchFamily="34" charset="0"/>
                <a:ea typeface="Instrument Sans" pitchFamily="34" charset="-122"/>
                <a:cs typeface="Instrument Sans" pitchFamily="34" charset="-120"/>
              </a:rPr>
              <a:t>Exact names: hybrid keeps them on top</a:t>
            </a:r>
            <a:endParaRPr lang="en-US" sz="1400" dirty="0"/>
          </a:p>
        </p:txBody>
      </p:sp>
      <p:sp>
        <p:nvSpPr>
          <p:cNvPr id="10" name="Shape 8"/>
          <p:cNvSpPr/>
          <p:nvPr/>
        </p:nvSpPr>
        <p:spPr>
          <a:xfrm>
            <a:off x="5090220" y="4752380"/>
            <a:ext cx="2011660" cy="1292820"/>
          </a:xfrm>
          <a:prstGeom prst="roundRect">
            <a:avLst>
              <a:gd name="adj" fmla="val 11788"/>
            </a:avLst>
          </a:prstGeom>
          <a:solidFill>
            <a:srgbClr val="161B22"/>
          </a:solidFill>
          <a:ln/>
        </p:spPr>
        <p:txBody>
          <a:bodyPr/>
          <a:lstStyle/>
          <a:p>
            <a:endParaRPr lang="en-MX"/>
          </a:p>
        </p:txBody>
      </p:sp>
      <p:sp>
        <p:nvSpPr>
          <p:cNvPr id="11" name="Text 9"/>
          <p:cNvSpPr/>
          <p:nvPr/>
        </p:nvSpPr>
        <p:spPr>
          <a:xfrm>
            <a:off x="5268020" y="4955580"/>
            <a:ext cx="170686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7DA2FF"/>
                </a:solidFill>
                <a:latin typeface="Bricolage Grotesque" pitchFamily="34" charset="0"/>
                <a:ea typeface="Bricolage Grotesque" pitchFamily="34" charset="-122"/>
                <a:cs typeface="Bricolage Grotesque" pitchFamily="34" charset="-120"/>
              </a:rPr>
              <a:t>3</a:t>
            </a:r>
            <a:endParaRPr lang="en-US" sz="2400" dirty="0"/>
          </a:p>
        </p:txBody>
      </p:sp>
      <p:sp>
        <p:nvSpPr>
          <p:cNvPr id="12" name="Text 10"/>
          <p:cNvSpPr/>
          <p:nvPr/>
        </p:nvSpPr>
        <p:spPr>
          <a:xfrm>
            <a:off x="5268020" y="5361980"/>
            <a:ext cx="170686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2F4F7"/>
                </a:solidFill>
                <a:latin typeface="Instrument Sans" pitchFamily="34" charset="0"/>
                <a:ea typeface="Instrument Sans" pitchFamily="34" charset="-122"/>
                <a:cs typeface="Instrument Sans" pitchFamily="34" charset="-120"/>
              </a:rPr>
              <a:t>Same question, 30-word chunks</a:t>
            </a:r>
            <a:endParaRPr lang="en-US" sz="1400" dirty="0"/>
          </a:p>
        </p:txBody>
      </p:sp>
      <p:sp>
        <p:nvSpPr>
          <p:cNvPr id="13" name="Shape 11"/>
          <p:cNvSpPr/>
          <p:nvPr/>
        </p:nvSpPr>
        <p:spPr>
          <a:xfrm>
            <a:off x="7228880" y="4752380"/>
            <a:ext cx="2011660" cy="1292820"/>
          </a:xfrm>
          <a:prstGeom prst="roundRect">
            <a:avLst>
              <a:gd name="adj" fmla="val 11788"/>
            </a:avLst>
          </a:prstGeom>
          <a:solidFill>
            <a:srgbClr val="161B22"/>
          </a:solidFill>
          <a:ln/>
        </p:spPr>
        <p:txBody>
          <a:bodyPr/>
          <a:lstStyle/>
          <a:p>
            <a:endParaRPr lang="en-MX"/>
          </a:p>
        </p:txBody>
      </p:sp>
      <p:sp>
        <p:nvSpPr>
          <p:cNvPr id="14" name="Text 12"/>
          <p:cNvSpPr/>
          <p:nvPr/>
        </p:nvSpPr>
        <p:spPr>
          <a:xfrm>
            <a:off x="7406680" y="4955580"/>
            <a:ext cx="170686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7DA2FF"/>
                </a:solidFill>
                <a:latin typeface="Bricolage Grotesque" pitchFamily="34" charset="0"/>
                <a:ea typeface="Bricolage Grotesque" pitchFamily="34" charset="-122"/>
                <a:cs typeface="Bricolage Grotesque" pitchFamily="34" charset="-120"/>
              </a:rPr>
              <a:t>4</a:t>
            </a:r>
            <a:endParaRPr lang="en-US" sz="2400" dirty="0"/>
          </a:p>
        </p:txBody>
      </p:sp>
      <p:sp>
        <p:nvSpPr>
          <p:cNvPr id="15" name="Text 13"/>
          <p:cNvSpPr/>
          <p:nvPr/>
        </p:nvSpPr>
        <p:spPr>
          <a:xfrm>
            <a:off x="7406680" y="5361980"/>
            <a:ext cx="170686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2F4F7"/>
                </a:solidFill>
                <a:latin typeface="Instrument Sans" pitchFamily="34" charset="0"/>
                <a:ea typeface="Instrument Sans" pitchFamily="34" charset="-122"/>
                <a:cs typeface="Instrument Sans" pitchFamily="34" charset="-120"/>
              </a:rPr>
              <a:t>A question the Guides can’t answer</a:t>
            </a:r>
            <a:endParaRPr lang="en-US" sz="1400" dirty="0"/>
          </a:p>
        </p:txBody>
      </p:sp>
      <p:sp>
        <p:nvSpPr>
          <p:cNvPr id="16" name="Shape 14"/>
          <p:cNvSpPr/>
          <p:nvPr/>
        </p:nvSpPr>
        <p:spPr>
          <a:xfrm>
            <a:off x="9367540" y="4752380"/>
            <a:ext cx="2011660" cy="1292820"/>
          </a:xfrm>
          <a:prstGeom prst="roundRect">
            <a:avLst>
              <a:gd name="adj" fmla="val 11788"/>
            </a:avLst>
          </a:prstGeom>
          <a:solidFill>
            <a:srgbClr val="161B22"/>
          </a:solidFill>
          <a:ln/>
        </p:spPr>
        <p:txBody>
          <a:bodyPr/>
          <a:lstStyle/>
          <a:p>
            <a:endParaRPr lang="en-MX"/>
          </a:p>
        </p:txBody>
      </p:sp>
      <p:sp>
        <p:nvSpPr>
          <p:cNvPr id="17" name="Text 15"/>
          <p:cNvSpPr/>
          <p:nvPr/>
        </p:nvSpPr>
        <p:spPr>
          <a:xfrm>
            <a:off x="9545340" y="4955580"/>
            <a:ext cx="1706860" cy="330200"/>
          </a:xfrm>
          <a:prstGeom prst="rect">
            <a:avLst/>
          </a:prstGeom>
          <a:noFill/>
          <a:ln/>
        </p:spPr>
        <p:txBody>
          <a:bodyPr wrap="square" lIns="0" tIns="0" rIns="0" bIns="0" rtlCol="0" anchor="t">
            <a:normAutofit/>
          </a:bodyPr>
          <a:lstStyle/>
          <a:p>
            <a:pPr marL="0" indent="0" algn="l">
              <a:lnSpc>
                <a:spcPts val="2400"/>
              </a:lnSpc>
              <a:buNone/>
            </a:pPr>
            <a:r>
              <a:rPr lang="en-US" sz="2400" b="1" dirty="0">
                <a:solidFill>
                  <a:srgbClr val="7DA2FF"/>
                </a:solidFill>
                <a:latin typeface="Bricolage Grotesque" pitchFamily="34" charset="0"/>
                <a:ea typeface="Bricolage Grotesque" pitchFamily="34" charset="-122"/>
                <a:cs typeface="Bricolage Grotesque" pitchFamily="34" charset="-120"/>
              </a:rPr>
              <a:t>5</a:t>
            </a:r>
            <a:endParaRPr lang="en-US" sz="2400" dirty="0"/>
          </a:p>
        </p:txBody>
      </p:sp>
      <p:sp>
        <p:nvSpPr>
          <p:cNvPr id="18" name="Text 16"/>
          <p:cNvSpPr/>
          <p:nvPr/>
        </p:nvSpPr>
        <p:spPr>
          <a:xfrm>
            <a:off x="9545340" y="5361980"/>
            <a:ext cx="1706860" cy="505420"/>
          </a:xfrm>
          <a:prstGeom prst="rect">
            <a:avLst/>
          </a:prstGeom>
          <a:noFill/>
          <a:ln/>
        </p:spPr>
        <p:txBody>
          <a:bodyPr wrap="square" lIns="0" tIns="0" rIns="0" bIns="0" rtlCol="0" anchor="t">
            <a:normAutofit/>
          </a:bodyPr>
          <a:lstStyle/>
          <a:p>
            <a:pPr marL="0" indent="0" algn="l">
              <a:lnSpc>
                <a:spcPts val="1890"/>
              </a:lnSpc>
              <a:buNone/>
            </a:pPr>
            <a:r>
              <a:rPr lang="en-US" sz="1400" dirty="0">
                <a:solidFill>
                  <a:srgbClr val="F2F4F7"/>
                </a:solidFill>
                <a:latin typeface="Instrument Sans" pitchFamily="34" charset="0"/>
                <a:ea typeface="Instrument Sans" pitchFamily="34" charset="-122"/>
                <a:cs typeface="Instrument Sans" pitchFamily="34" charset="-120"/>
              </a:rPr>
              <a:t>The eval passes, then fails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2A5BFF"/>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305520"/>
          </a:xfrm>
          <a:prstGeom prst="rect">
            <a:avLst/>
          </a:prstGeom>
          <a:noFill/>
          <a:ln/>
        </p:spPr>
        <p:txBody>
          <a:bodyPr wrap="square" lIns="0" tIns="0" rIns="0" bIns="0" rtlCol="0" anchor="t">
            <a:normAutofit/>
          </a:bodyPr>
          <a:lstStyle/>
          <a:p>
            <a:pPr marL="0" indent="0" algn="l">
              <a:lnSpc>
                <a:spcPts val="5040"/>
              </a:lnSpc>
              <a:buNone/>
            </a:pPr>
            <a:r>
              <a:rPr lang="en-US" sz="4800" b="1" i="0" kern="0" spc="-95" dirty="0">
                <a:solidFill>
                  <a:srgbClr val="FFFFFF"/>
                </a:solidFill>
                <a:latin typeface="Bricolage Grotesque" pitchFamily="34" charset="0"/>
                <a:ea typeface="Bricolage Grotesque" pitchFamily="34" charset="-122"/>
                <a:cs typeface="Bricolage Grotesque" pitchFamily="34" charset="-120"/>
              </a:rPr>
              <a:t>Vector search always answers. A cutoff lets it say “not in the Guides.”</a:t>
            </a:r>
            <a:endParaRPr lang="en-US" sz="4800" dirty="0"/>
          </a:p>
        </p:txBody>
      </p:sp>
      <p:sp>
        <p:nvSpPr>
          <p:cNvPr id="3" name="Text 1"/>
          <p:cNvSpPr/>
          <p:nvPr/>
        </p:nvSpPr>
        <p:spPr>
          <a:xfrm>
            <a:off x="812800" y="5054600"/>
            <a:ext cx="7194550" cy="1016000"/>
          </a:xfrm>
          <a:prstGeom prst="rect">
            <a:avLst/>
          </a:prstGeom>
          <a:noFill/>
          <a:ln/>
        </p:spPr>
        <p:txBody>
          <a:bodyPr wrap="square" lIns="0" tIns="0" rIns="0" bIns="0" rtlCol="0" anchor="t">
            <a:normAutofit/>
          </a:bodyPr>
          <a:lstStyle/>
          <a:p>
            <a:pPr marL="0" indent="0" algn="l">
              <a:lnSpc>
                <a:spcPts val="2600"/>
              </a:lnSpc>
              <a:buNone/>
            </a:pPr>
            <a:r>
              <a:rPr lang="en-US" sz="2000" dirty="0">
                <a:solidFill>
                  <a:srgbClr val="FFFFFF"/>
                </a:solidFill>
                <a:latin typeface="Instrument Sans" pitchFamily="34" charset="0"/>
                <a:ea typeface="Instrument Sans" pitchFamily="34" charset="-122"/>
                <a:cs typeface="Instrument Sans" pitchFamily="34" charset="-120"/>
              </a:rPr>
              <a:t>Ask “how do I configure Phoenix LiveView in Rails?” and you still get five passages, probably Action Cable, the closest idea it has.</a:t>
            </a:r>
            <a:endParaRPr lang="en-US" sz="2000" dirty="0"/>
          </a:p>
        </p:txBody>
      </p:sp>
      <p:sp>
        <p:nvSpPr>
          <p:cNvPr id="4" name="Text 2"/>
          <p:cNvSpPr/>
          <p:nvPr/>
        </p:nvSpPr>
        <p:spPr>
          <a:xfrm>
            <a:off x="8514060" y="5593159"/>
            <a:ext cx="2865140" cy="452041"/>
          </a:xfrm>
          <a:prstGeom prst="roundRect">
            <a:avLst>
              <a:gd name="adj" fmla="val 19666"/>
            </a:avLst>
          </a:prstGeom>
          <a:solidFill>
            <a:srgbClr val="FFFFFF"/>
          </a:solidFill>
          <a:ln/>
        </p:spPr>
        <p:txBody>
          <a:bodyPr wrap="none" lIns="0" tIns="0" rIns="0" bIns="0" rtlCol="0" anchor="ctr">
            <a:normAutofit/>
          </a:bodyPr>
          <a:lstStyle/>
          <a:p>
            <a:pPr marL="0" indent="0" algn="ctr">
              <a:lnSpc>
                <a:spcPts val="1960"/>
              </a:lnSpc>
              <a:buNone/>
            </a:pPr>
            <a:r>
              <a:rPr lang="en-US" sz="1400" dirty="0">
                <a:solidFill>
                  <a:srgbClr val="0D1117"/>
                </a:solidFill>
                <a:latin typeface="JetBrains Mono" pitchFamily="49" charset="0"/>
                <a:ea typeface="JetBrains Mono" pitchFamily="49" charset="-122"/>
                <a:cs typeface="JetBrains Mono" pitchFamily="49" charset="-120"/>
              </a:rPr>
              <a:t>distance &lt;= MAX_DISTANCE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Test retrieval like any other code</a:t>
            </a:r>
            <a:endParaRPr lang="en-US" sz="3800" dirty="0"/>
          </a:p>
        </p:txBody>
      </p:sp>
      <p:sp>
        <p:nvSpPr>
          <p:cNvPr id="3" name="Shape 1"/>
          <p:cNvSpPr/>
          <p:nvPr/>
        </p:nvSpPr>
        <p:spPr>
          <a:xfrm>
            <a:off x="812800" y="1624310"/>
            <a:ext cx="4423866" cy="3051770"/>
          </a:xfrm>
          <a:prstGeom prst="roundRect">
            <a:avLst>
              <a:gd name="adj" fmla="val 5826"/>
            </a:avLst>
          </a:prstGeom>
          <a:solidFill>
            <a:srgbClr val="FFFFFF"/>
          </a:solidFill>
          <a:ln/>
        </p:spPr>
        <p:txBody>
          <a:bodyPr/>
          <a:lstStyle/>
          <a:p>
            <a:endParaRPr lang="en-MX"/>
          </a:p>
        </p:txBody>
      </p:sp>
      <p:sp>
        <p:nvSpPr>
          <p:cNvPr id="4" name="Text 2"/>
          <p:cNvSpPr/>
          <p:nvPr/>
        </p:nvSpPr>
        <p:spPr>
          <a:xfrm>
            <a:off x="1066800" y="1878310"/>
            <a:ext cx="4033342"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test/evals/golden_set.yml</a:t>
            </a:r>
            <a:endParaRPr lang="en-US" sz="1200" dirty="0"/>
          </a:p>
        </p:txBody>
      </p:sp>
      <p:sp>
        <p:nvSpPr>
          <p:cNvPr id="5" name="Text 3"/>
          <p:cNvSpPr/>
          <p:nvPr/>
        </p:nvSpPr>
        <p:spPr>
          <a:xfrm>
            <a:off x="1066800" y="2193230"/>
            <a:ext cx="4033342" cy="1758950"/>
          </a:xfrm>
          <a:prstGeom prst="rect">
            <a:avLst/>
          </a:prstGeom>
          <a:noFill/>
          <a:ln/>
        </p:spPr>
        <p:txBody>
          <a:bodyPr wrap="square" lIns="0" tIns="0" rIns="0" bIns="0" rtlCol="0" anchor="t">
            <a:normAutofit/>
          </a:bodyPr>
          <a:lstStyle/>
          <a:p>
            <a:pPr marL="0" indent="0" algn="l">
              <a:lnSpc>
                <a:spcPts val="1950"/>
              </a:lnSpc>
              <a:buNone/>
            </a:pPr>
            <a:r>
              <a:rPr lang="en-US" sz="1300" dirty="0">
                <a:solidFill>
                  <a:srgbClr val="0D1117"/>
                </a:solidFill>
                <a:latin typeface="JetBrains Mono" pitchFamily="49" charset="0"/>
                <a:ea typeface="JetBrains Mono" pitchFamily="49" charset="-122"/>
                <a:cs typeface="JetBrains Mono" pitchFamily="49" charset="-120"/>
              </a:rPr>
              <a:t>- question: </a:t>
            </a:r>
            <a:r>
              <a:rPr lang="en-US" sz="1300" dirty="0">
                <a:solidFill>
                  <a:srgbClr val="0E8A7C"/>
                </a:solidFill>
                <a:latin typeface="JetBrains Mono" pitchFamily="49" charset="0"/>
                <a:ea typeface="JetBrains Mono" pitchFamily="49" charset="-122"/>
                <a:cs typeface="JetBrains Mono" pitchFamily="49" charset="-120"/>
              </a:rPr>
              <a:t>"run work in the</a:t>
            </a:r>
            <a:endParaRPr lang="en-US" sz="1300" dirty="0"/>
          </a:p>
          <a:p>
            <a:pPr marL="0" indent="0" algn="l">
              <a:lnSpc>
                <a:spcPts val="1950"/>
              </a:lnSpc>
              <a:buNone/>
            </a:pPr>
            <a:r>
              <a:rPr lang="en-US" sz="1300" dirty="0">
                <a:solidFill>
                  <a:srgbClr val="0E8A7C"/>
                </a:solidFill>
                <a:latin typeface="JetBrains Mono" pitchFamily="49" charset="0"/>
                <a:ea typeface="JetBrains Mono" pitchFamily="49" charset="-122"/>
                <a:cs typeface="JetBrains Mono" pitchFamily="49" charset="-120"/>
              </a:rPr>
              <a:t>  background"</a:t>
            </a:r>
            <a:endParaRPr lang="en-US" sz="1300" dirty="0"/>
          </a:p>
          <a:p>
            <a:pPr marL="0" indent="0" algn="l">
              <a:lnSpc>
                <a:spcPts val="1950"/>
              </a:lnSpc>
              <a:buNone/>
            </a:pPr>
            <a:r>
              <a:rPr lang="en-US" sz="1300" dirty="0">
                <a:solidFill>
                  <a:srgbClr val="0D1117"/>
                </a:solidFill>
                <a:latin typeface="JetBrains Mono" pitchFamily="49" charset="0"/>
                <a:ea typeface="JetBrains Mono" pitchFamily="49" charset="-122"/>
                <a:cs typeface="JetBrains Mono" pitchFamily="49" charset="-120"/>
              </a:rPr>
              <a:t>  expected: [</a:t>
            </a:r>
            <a:r>
              <a:rPr lang="en-US" sz="1300" dirty="0">
                <a:solidFill>
                  <a:srgbClr val="2A5BFF"/>
                </a:solidFill>
                <a:latin typeface="JetBrains Mono" pitchFamily="49" charset="0"/>
                <a:ea typeface="JetBrains Mono" pitchFamily="49" charset="-122"/>
                <a:cs typeface="JetBrains Mono" pitchFamily="49" charset="-120"/>
              </a:rPr>
              <a:t>active_job_basics</a:t>
            </a:r>
            <a:r>
              <a:rPr lang="en-US" sz="1300" dirty="0">
                <a:solidFill>
                  <a:srgbClr val="0D1117"/>
                </a:solidFill>
                <a:latin typeface="JetBrains Mono" pitchFamily="49" charset="0"/>
                <a:ea typeface="JetBrains Mono" pitchFamily="49" charset="-122"/>
                <a:cs typeface="JetBrains Mono" pitchFamily="49" charset="-120"/>
              </a:rPr>
              <a:t>]</a:t>
            </a:r>
            <a:endParaRPr lang="en-US" sz="1300" dirty="0"/>
          </a:p>
          <a:p>
            <a:pPr marL="0" indent="0" algn="l">
              <a:lnSpc>
                <a:spcPts val="1950"/>
              </a:lnSpc>
              <a:buNone/>
            </a:pPr>
            <a:endParaRPr lang="en-US" sz="1300" dirty="0"/>
          </a:p>
          <a:p>
            <a:pPr marL="0" indent="0" algn="l">
              <a:lnSpc>
                <a:spcPts val="1950"/>
              </a:lnSpc>
              <a:buNone/>
            </a:pPr>
            <a:r>
              <a:rPr lang="en-US" sz="1300" dirty="0">
                <a:solidFill>
                  <a:srgbClr val="0D1117"/>
                </a:solidFill>
                <a:latin typeface="JetBrains Mono" pitchFamily="49" charset="0"/>
                <a:ea typeface="JetBrains Mono" pitchFamily="49" charset="-122"/>
                <a:cs typeface="JetBrains Mono" pitchFamily="49" charset="-120"/>
              </a:rPr>
              <a:t>- question: </a:t>
            </a:r>
            <a:r>
              <a:rPr lang="en-US" sz="1300" dirty="0">
                <a:solidFill>
                  <a:srgbClr val="0E8A7C"/>
                </a:solidFill>
                <a:latin typeface="JetBrains Mono" pitchFamily="49" charset="0"/>
                <a:ea typeface="JetBrains Mono" pitchFamily="49" charset="-122"/>
                <a:cs typeface="JetBrains Mono" pitchFamily="49" charset="-120"/>
              </a:rPr>
              <a:t>"send an email</a:t>
            </a:r>
            <a:endParaRPr lang="en-US" sz="1300" dirty="0"/>
          </a:p>
          <a:p>
            <a:pPr marL="0" indent="0" algn="l">
              <a:lnSpc>
                <a:spcPts val="1950"/>
              </a:lnSpc>
              <a:buNone/>
            </a:pPr>
            <a:r>
              <a:rPr lang="en-US" sz="1300" dirty="0">
                <a:solidFill>
                  <a:srgbClr val="0E8A7C"/>
                </a:solidFill>
                <a:latin typeface="JetBrains Mono" pitchFamily="49" charset="0"/>
                <a:ea typeface="JetBrains Mono" pitchFamily="49" charset="-122"/>
                <a:cs typeface="JetBrains Mono" pitchFamily="49" charset="-120"/>
              </a:rPr>
              <a:t>  to a user"</a:t>
            </a:r>
            <a:endParaRPr lang="en-US" sz="1300" dirty="0"/>
          </a:p>
          <a:p>
            <a:pPr marL="0" indent="0" algn="l">
              <a:lnSpc>
                <a:spcPts val="1950"/>
              </a:lnSpc>
              <a:buNone/>
            </a:pPr>
            <a:r>
              <a:rPr lang="en-US" sz="1300" dirty="0">
                <a:solidFill>
                  <a:srgbClr val="0D1117"/>
                </a:solidFill>
                <a:latin typeface="JetBrains Mono" pitchFamily="49" charset="0"/>
                <a:ea typeface="JetBrains Mono" pitchFamily="49" charset="-122"/>
                <a:cs typeface="JetBrains Mono" pitchFamily="49" charset="-120"/>
              </a:rPr>
              <a:t>  expected: [</a:t>
            </a:r>
            <a:r>
              <a:rPr lang="en-US" sz="1300" dirty="0">
                <a:solidFill>
                  <a:srgbClr val="2A5BFF"/>
                </a:solidFill>
                <a:latin typeface="JetBrains Mono" pitchFamily="49" charset="0"/>
                <a:ea typeface="JetBrains Mono" pitchFamily="49" charset="-122"/>
                <a:cs typeface="JetBrains Mono" pitchFamily="49" charset="-120"/>
              </a:rPr>
              <a:t>action_mailer_basics</a:t>
            </a:r>
            <a:r>
              <a:rPr lang="en-US" sz="1300" dirty="0">
                <a:solidFill>
                  <a:srgbClr val="0D1117"/>
                </a:solidFill>
                <a:latin typeface="JetBrains Mono" pitchFamily="49" charset="0"/>
                <a:ea typeface="JetBrains Mono" pitchFamily="49" charset="-122"/>
                <a:cs typeface="JetBrains Mono" pitchFamily="49" charset="-120"/>
              </a:rPr>
              <a:t>]</a:t>
            </a:r>
            <a:endParaRPr lang="en-US" sz="1300" dirty="0"/>
          </a:p>
        </p:txBody>
      </p:sp>
      <p:sp>
        <p:nvSpPr>
          <p:cNvPr id="6" name="Text 4"/>
          <p:cNvSpPr/>
          <p:nvPr/>
        </p:nvSpPr>
        <p:spPr>
          <a:xfrm>
            <a:off x="1066800" y="4028380"/>
            <a:ext cx="4033342"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6B7383"/>
                </a:solidFill>
                <a:latin typeface="Instrument Sans" pitchFamily="34" charset="0"/>
                <a:ea typeface="Instrument Sans" pitchFamily="34" charset="-122"/>
                <a:cs typeface="Instrument Sans" pitchFamily="34" charset="-120"/>
              </a:rPr>
              <a:t>13 questions with answers, 3 that must get none</a:t>
            </a:r>
            <a:endParaRPr lang="en-US" sz="1300" dirty="0"/>
          </a:p>
        </p:txBody>
      </p:sp>
      <p:sp>
        <p:nvSpPr>
          <p:cNvPr id="7" name="Shape 5"/>
          <p:cNvSpPr/>
          <p:nvPr/>
        </p:nvSpPr>
        <p:spPr>
          <a:xfrm>
            <a:off x="5389066" y="1624310"/>
            <a:ext cx="5990134" cy="3051770"/>
          </a:xfrm>
          <a:prstGeom prst="roundRect">
            <a:avLst>
              <a:gd name="adj" fmla="val 5826"/>
            </a:avLst>
          </a:prstGeom>
          <a:solidFill>
            <a:srgbClr val="0D1117"/>
          </a:solidFill>
          <a:ln/>
        </p:spPr>
        <p:txBody>
          <a:bodyPr/>
          <a:lstStyle/>
          <a:p>
            <a:endParaRPr lang="en-MX"/>
          </a:p>
        </p:txBody>
      </p:sp>
      <p:sp>
        <p:nvSpPr>
          <p:cNvPr id="8" name="Text 6"/>
          <p:cNvSpPr/>
          <p:nvPr/>
        </p:nvSpPr>
        <p:spPr>
          <a:xfrm>
            <a:off x="5643066" y="1878310"/>
            <a:ext cx="564659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2"/>
                </a:solidFill>
                <a:latin typeface="JetBrains Mono" pitchFamily="49" charset="0"/>
                <a:ea typeface="JetBrains Mono" pitchFamily="49" charset="-122"/>
                <a:cs typeface="JetBrains Mono" pitchFamily="49" charset="-120"/>
              </a:rPr>
              <a:t>terminal</a:t>
            </a:r>
            <a:endParaRPr lang="en-US" sz="1200" dirty="0"/>
          </a:p>
        </p:txBody>
      </p:sp>
      <p:sp>
        <p:nvSpPr>
          <p:cNvPr id="9" name="Text 7"/>
          <p:cNvSpPr/>
          <p:nvPr/>
        </p:nvSpPr>
        <p:spPr>
          <a:xfrm>
            <a:off x="5643066" y="2193230"/>
            <a:ext cx="5646598" cy="2254250"/>
          </a:xfrm>
          <a:prstGeom prst="rect">
            <a:avLst/>
          </a:prstGeom>
          <a:noFill/>
          <a:ln/>
        </p:spPr>
        <p:txBody>
          <a:bodyPr wrap="square" lIns="0" tIns="0" rIns="0" bIns="0" rtlCol="0" anchor="t">
            <a:normAutofit fontScale="70000" lnSpcReduction="20000"/>
          </a:bodyPr>
          <a:lstStyle/>
          <a:p>
            <a:pPr marL="0" indent="0" algn="l">
              <a:lnSpc>
                <a:spcPts val="1950"/>
              </a:lnSpc>
              <a:buNone/>
            </a:pPr>
            <a:r>
              <a:rPr lang="en-US" sz="1300" dirty="0">
                <a:solidFill>
                  <a:srgbClr val="9AA3B2"/>
                </a:solidFill>
                <a:latin typeface="JetBrains Mono" pitchFamily="49" charset="0"/>
                <a:ea typeface="JetBrains Mono" pitchFamily="49" charset="-122"/>
                <a:cs typeface="JetBrains Mono" pitchFamily="49" charset="-120"/>
              </a:rPr>
              <a:t>$</a:t>
            </a:r>
            <a:r>
              <a:rPr lang="en-US" sz="1300" dirty="0">
                <a:solidFill>
                  <a:srgbClr val="F2F4F7"/>
                </a:solidFill>
                <a:latin typeface="JetBrains Mono" pitchFamily="49" charset="0"/>
                <a:ea typeface="JetBrains Mono" pitchFamily="49" charset="-122"/>
                <a:cs typeface="JetBrains Mono" pitchFamily="49" charset="-120"/>
              </a:rPr>
              <a:t> bin/rails test test/evals</a:t>
            </a:r>
            <a:endParaRPr lang="en-US" sz="1300" dirty="0"/>
          </a:p>
          <a:p>
            <a:pPr marL="0" indent="0" algn="l">
              <a:lnSpc>
                <a:spcPts val="1950"/>
              </a:lnSpc>
              <a:buNone/>
            </a:pPr>
            <a:r>
              <a:rPr lang="en-US" sz="1300" dirty="0">
                <a:solidFill>
                  <a:srgbClr val="F2F4F7"/>
                </a:solidFill>
                <a:latin typeface="JetBrains Mono" pitchFamily="49" charset="0"/>
                <a:ea typeface="JetBrains Mono" pitchFamily="49" charset="-122"/>
                <a:cs typeface="JetBrains Mono" pitchFamily="49" charset="-120"/>
              </a:rPr>
              <a:t>Hit rate@5 over 13 questions (w150)</a:t>
            </a:r>
            <a:endParaRPr lang="en-US" sz="1300" dirty="0"/>
          </a:p>
          <a:p>
            <a:pPr marL="0" indent="0" algn="l">
              <a:lnSpc>
                <a:spcPts val="1950"/>
              </a:lnSpc>
              <a:buNone/>
            </a:pPr>
            <a:r>
              <a:rPr lang="en-US" sz="1300" dirty="0">
                <a:solidFill>
                  <a:srgbClr val="F2F4F7"/>
                </a:solidFill>
                <a:latin typeface="JetBrains Mono" pitchFamily="49" charset="0"/>
                <a:ea typeface="JetBrains Mono" pitchFamily="49" charset="-122"/>
                <a:cs typeface="JetBrains Mono" pitchFamily="49" charset="-120"/>
              </a:rPr>
              <a:t>  keyword  [__]%</a:t>
            </a:r>
            <a:endParaRPr lang="en-US" sz="1300" dirty="0"/>
          </a:p>
          <a:p>
            <a:pPr marL="0" indent="0" algn="l">
              <a:lnSpc>
                <a:spcPts val="1950"/>
              </a:lnSpc>
              <a:buNone/>
            </a:pPr>
            <a:r>
              <a:rPr lang="en-US" sz="1300" dirty="0">
                <a:solidFill>
                  <a:srgbClr val="F2F4F7"/>
                </a:solidFill>
                <a:latin typeface="JetBrains Mono" pitchFamily="49" charset="0"/>
                <a:ea typeface="JetBrains Mono" pitchFamily="49" charset="-122"/>
                <a:cs typeface="JetBrains Mono" pitchFamily="49" charset="-120"/>
              </a:rPr>
              <a:t>  vector   [__]%</a:t>
            </a:r>
            <a:endParaRPr lang="en-US" sz="1300" dirty="0"/>
          </a:p>
          <a:p>
            <a:pPr marL="0" indent="0" algn="l">
              <a:lnSpc>
                <a:spcPts val="1950"/>
              </a:lnSpc>
              <a:buNone/>
            </a:pPr>
            <a:r>
              <a:rPr lang="en-US" sz="1300" dirty="0">
                <a:solidFill>
                  <a:srgbClr val="F2F4F7"/>
                </a:solidFill>
                <a:latin typeface="JetBrains Mono" pitchFamily="49" charset="0"/>
                <a:ea typeface="JetBrains Mono" pitchFamily="49" charset="-122"/>
                <a:cs typeface="JetBrains Mono" pitchFamily="49" charset="-120"/>
              </a:rPr>
              <a:t>  hybrid   [__]%</a:t>
            </a:r>
            <a:endParaRPr lang="en-US" sz="1300" dirty="0"/>
          </a:p>
          <a:p>
            <a:pPr marL="0" indent="0" algn="l">
              <a:lnSpc>
                <a:spcPts val="1950"/>
              </a:lnSpc>
              <a:buNone/>
            </a:pPr>
            <a:r>
              <a:rPr lang="en-US" sz="1300" dirty="0">
                <a:solidFill>
                  <a:srgbClr val="56C288"/>
                </a:solidFill>
                <a:latin typeface="JetBrains Mono" pitchFamily="49" charset="0"/>
                <a:ea typeface="JetBrains Mono" pitchFamily="49" charset="-122"/>
                <a:cs typeface="JetBrains Mono" pitchFamily="49" charset="-120"/>
              </a:rPr>
              <a:t>0 failures</a:t>
            </a:r>
            <a:endParaRPr lang="en-US" sz="1300" dirty="0"/>
          </a:p>
          <a:p>
            <a:pPr marL="0" indent="0" algn="l">
              <a:lnSpc>
                <a:spcPts val="1950"/>
              </a:lnSpc>
              <a:buNone/>
            </a:pPr>
            <a:endParaRPr lang="en-US" sz="1300" dirty="0"/>
          </a:p>
          <a:p>
            <a:pPr marL="0" indent="0" algn="l">
              <a:lnSpc>
                <a:spcPts val="1950"/>
              </a:lnSpc>
              <a:buNone/>
            </a:pPr>
            <a:r>
              <a:rPr lang="en-US" sz="1300" dirty="0">
                <a:solidFill>
                  <a:srgbClr val="9AA3B2"/>
                </a:solidFill>
                <a:latin typeface="JetBrains Mono" pitchFamily="49" charset="0"/>
                <a:ea typeface="JetBrains Mono" pitchFamily="49" charset="-122"/>
                <a:cs typeface="JetBrains Mono" pitchFamily="49" charset="-120"/>
              </a:rPr>
              <a:t>$</a:t>
            </a:r>
            <a:r>
              <a:rPr lang="en-US" sz="1300" dirty="0">
                <a:solidFill>
                  <a:srgbClr val="F2F4F7"/>
                </a:solidFill>
                <a:latin typeface="JetBrains Mono" pitchFamily="49" charset="0"/>
                <a:ea typeface="JetBrains Mono" pitchFamily="49" charset="-122"/>
                <a:cs typeface="JetBrains Mono" pitchFamily="49" charset="-120"/>
              </a:rPr>
              <a:t> CHUNK_VARIANT=w30 bin/rails test test/evals</a:t>
            </a:r>
            <a:endParaRPr lang="en-US" sz="1300" dirty="0"/>
          </a:p>
          <a:p>
            <a:pPr marL="0" indent="0" algn="l">
              <a:lnSpc>
                <a:spcPts val="1950"/>
              </a:lnSpc>
              <a:buNone/>
            </a:pPr>
            <a:r>
              <a:rPr lang="en-US" sz="1300" dirty="0">
                <a:solidFill>
                  <a:srgbClr val="FF8A73"/>
                </a:solidFill>
                <a:latin typeface="JetBrains Mono" pitchFamily="49" charset="0"/>
                <a:ea typeface="JetBrains Mono" pitchFamily="49" charset="-122"/>
                <a:cs typeface="JetBrains Mono" pitchFamily="49" charset="-120"/>
              </a:rPr>
              <a:t>1 failure: vector hit rate@5 was [__]%</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From search to RAG: add one step</a:t>
            </a:r>
            <a:endParaRPr lang="en-US" sz="3800" dirty="0"/>
          </a:p>
        </p:txBody>
      </p:sp>
      <p:sp>
        <p:nvSpPr>
          <p:cNvPr id="3" name="Shape 1"/>
          <p:cNvSpPr/>
          <p:nvPr/>
        </p:nvSpPr>
        <p:spPr>
          <a:xfrm>
            <a:off x="812800" y="1779191"/>
            <a:ext cx="2260600" cy="1257201"/>
          </a:xfrm>
          <a:prstGeom prst="roundRect">
            <a:avLst>
              <a:gd name="adj" fmla="val 12122"/>
            </a:avLst>
          </a:prstGeom>
          <a:solidFill>
            <a:srgbClr val="FFFFFF"/>
          </a:solidFill>
          <a:ln/>
        </p:spPr>
        <p:txBody>
          <a:bodyPr/>
          <a:lstStyle/>
          <a:p>
            <a:endParaRPr lang="en-MX"/>
          </a:p>
        </p:txBody>
      </p:sp>
      <p:sp>
        <p:nvSpPr>
          <p:cNvPr id="4" name="Text 2"/>
          <p:cNvSpPr/>
          <p:nvPr/>
        </p:nvSpPr>
        <p:spPr>
          <a:xfrm>
            <a:off x="990600" y="1956991"/>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built today</a:t>
            </a:r>
            <a:endParaRPr lang="en-US" sz="1200" dirty="0"/>
          </a:p>
        </p:txBody>
      </p:sp>
      <p:sp>
        <p:nvSpPr>
          <p:cNvPr id="5" name="Text 3"/>
          <p:cNvSpPr/>
          <p:nvPr/>
        </p:nvSpPr>
        <p:spPr>
          <a:xfrm>
            <a:off x="990600" y="2246511"/>
            <a:ext cx="19621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D1117"/>
                </a:solidFill>
                <a:latin typeface="Bricolage Grotesque" pitchFamily="34" charset="0"/>
                <a:ea typeface="Bricolage Grotesque" pitchFamily="34" charset="-122"/>
                <a:cs typeface="Bricolage Grotesque" pitchFamily="34" charset="-120"/>
              </a:rPr>
              <a:t>Question</a:t>
            </a:r>
            <a:endParaRPr lang="en-US" sz="2000" dirty="0"/>
          </a:p>
        </p:txBody>
      </p:sp>
      <p:sp>
        <p:nvSpPr>
          <p:cNvPr id="6" name="Text 4"/>
          <p:cNvSpPr/>
          <p:nvPr/>
        </p:nvSpPr>
        <p:spPr>
          <a:xfrm>
            <a:off x="990600" y="2627511"/>
            <a:ext cx="1962150" cy="2564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4250"/>
                </a:solidFill>
                <a:latin typeface="Instrument Sans" pitchFamily="34" charset="0"/>
                <a:ea typeface="Instrument Sans" pitchFamily="34" charset="-122"/>
                <a:cs typeface="Instrument Sans" pitchFamily="34" charset="-120"/>
              </a:rPr>
              <a:t>“how do I email a user?”</a:t>
            </a:r>
            <a:endParaRPr lang="en-US" sz="1300" dirty="0"/>
          </a:p>
        </p:txBody>
      </p:sp>
      <p:pic>
        <p:nvPicPr>
          <p:cNvPr id="7" name="Image 0" descr="connector"/>
          <p:cNvPicPr>
            <a:picLocks noChangeAspect="1"/>
          </p:cNvPicPr>
          <p:nvPr/>
        </p:nvPicPr>
        <p:blipFill>
          <a:blip r:embed="rId3"/>
          <a:srcRect/>
          <a:stretch/>
        </p:blipFill>
        <p:spPr>
          <a:xfrm>
            <a:off x="3143250" y="2369641"/>
            <a:ext cx="368300" cy="76200"/>
          </a:xfrm>
          <a:prstGeom prst="rect">
            <a:avLst/>
          </a:prstGeom>
        </p:spPr>
      </p:pic>
      <p:sp>
        <p:nvSpPr>
          <p:cNvPr id="8" name="Shape 5"/>
          <p:cNvSpPr/>
          <p:nvPr/>
        </p:nvSpPr>
        <p:spPr>
          <a:xfrm>
            <a:off x="3581400" y="1663601"/>
            <a:ext cx="2260600" cy="1488281"/>
          </a:xfrm>
          <a:prstGeom prst="roundRect">
            <a:avLst>
              <a:gd name="adj" fmla="val 10240"/>
            </a:avLst>
          </a:prstGeom>
          <a:solidFill>
            <a:srgbClr val="FFFFFF"/>
          </a:solidFill>
          <a:ln/>
        </p:spPr>
        <p:txBody>
          <a:bodyPr/>
          <a:lstStyle/>
          <a:p>
            <a:endParaRPr lang="en-MX"/>
          </a:p>
        </p:txBody>
      </p:sp>
      <p:sp>
        <p:nvSpPr>
          <p:cNvPr id="9" name="Text 6"/>
          <p:cNvSpPr/>
          <p:nvPr/>
        </p:nvSpPr>
        <p:spPr>
          <a:xfrm>
            <a:off x="3759200" y="1841401"/>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A5BFF"/>
                </a:solidFill>
                <a:latin typeface="JetBrains Mono" pitchFamily="49" charset="0"/>
                <a:ea typeface="JetBrains Mono" pitchFamily="49" charset="-122"/>
                <a:cs typeface="JetBrains Mono" pitchFamily="49" charset="-120"/>
              </a:rPr>
              <a:t>built today</a:t>
            </a:r>
            <a:endParaRPr lang="en-US" sz="1200" dirty="0"/>
          </a:p>
        </p:txBody>
      </p:sp>
      <p:sp>
        <p:nvSpPr>
          <p:cNvPr id="10" name="Text 7"/>
          <p:cNvSpPr/>
          <p:nvPr/>
        </p:nvSpPr>
        <p:spPr>
          <a:xfrm>
            <a:off x="3759200" y="2130921"/>
            <a:ext cx="19621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D1117"/>
                </a:solidFill>
                <a:latin typeface="Bricolage Grotesque" pitchFamily="34" charset="0"/>
                <a:ea typeface="Bricolage Grotesque" pitchFamily="34" charset="-122"/>
                <a:cs typeface="Bricolage Grotesque" pitchFamily="34" charset="-120"/>
              </a:rPr>
              <a:t>Retrieve</a:t>
            </a:r>
            <a:endParaRPr lang="en-US" sz="2000" dirty="0"/>
          </a:p>
        </p:txBody>
      </p:sp>
      <p:sp>
        <p:nvSpPr>
          <p:cNvPr id="11" name="Text 8"/>
          <p:cNvSpPr/>
          <p:nvPr/>
        </p:nvSpPr>
        <p:spPr>
          <a:xfrm>
            <a:off x="3759200" y="2511921"/>
            <a:ext cx="196215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4250"/>
                </a:solidFill>
                <a:latin typeface="Instrument Sans" pitchFamily="34" charset="0"/>
                <a:ea typeface="Instrument Sans" pitchFamily="34" charset="-122"/>
                <a:cs typeface="Instrument Sans" pitchFamily="34" charset="-120"/>
              </a:rPr>
              <a:t>Top 5 chunks that pass the cutoff</a:t>
            </a:r>
            <a:endParaRPr lang="en-US" sz="1300" dirty="0"/>
          </a:p>
        </p:txBody>
      </p:sp>
      <p:pic>
        <p:nvPicPr>
          <p:cNvPr id="12" name="Image 1" descr="connector"/>
          <p:cNvPicPr>
            <a:picLocks noChangeAspect="1"/>
          </p:cNvPicPr>
          <p:nvPr/>
        </p:nvPicPr>
        <p:blipFill>
          <a:blip r:embed="rId3"/>
          <a:srcRect/>
          <a:stretch/>
        </p:blipFill>
        <p:spPr>
          <a:xfrm>
            <a:off x="5911850" y="2369641"/>
            <a:ext cx="368300" cy="76200"/>
          </a:xfrm>
          <a:prstGeom prst="rect">
            <a:avLst/>
          </a:prstGeom>
        </p:spPr>
      </p:pic>
      <p:sp>
        <p:nvSpPr>
          <p:cNvPr id="13" name="Shape 9"/>
          <p:cNvSpPr/>
          <p:nvPr/>
        </p:nvSpPr>
        <p:spPr>
          <a:xfrm>
            <a:off x="6350000" y="1548110"/>
            <a:ext cx="2260600" cy="1719362"/>
          </a:xfrm>
          <a:prstGeom prst="roundRect">
            <a:avLst>
              <a:gd name="adj" fmla="val 8864"/>
            </a:avLst>
          </a:prstGeom>
          <a:solidFill>
            <a:srgbClr val="E8EEFF"/>
          </a:solidFill>
          <a:ln/>
        </p:spPr>
        <p:txBody>
          <a:bodyPr/>
          <a:lstStyle/>
          <a:p>
            <a:endParaRPr lang="en-MX"/>
          </a:p>
        </p:txBody>
      </p:sp>
      <p:sp>
        <p:nvSpPr>
          <p:cNvPr id="14" name="Text 10"/>
          <p:cNvSpPr/>
          <p:nvPr/>
        </p:nvSpPr>
        <p:spPr>
          <a:xfrm>
            <a:off x="6527800" y="1725910"/>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383"/>
                </a:solidFill>
                <a:latin typeface="JetBrains Mono" pitchFamily="49" charset="0"/>
                <a:ea typeface="JetBrains Mono" pitchFamily="49" charset="-122"/>
                <a:cs typeface="JetBrains Mono" pitchFamily="49" charset="-120"/>
              </a:rPr>
              <a:t>next step</a:t>
            </a:r>
            <a:endParaRPr lang="en-US" sz="1200" dirty="0"/>
          </a:p>
        </p:txBody>
      </p:sp>
      <p:sp>
        <p:nvSpPr>
          <p:cNvPr id="15" name="Text 11"/>
          <p:cNvSpPr/>
          <p:nvPr/>
        </p:nvSpPr>
        <p:spPr>
          <a:xfrm>
            <a:off x="6527800" y="2015430"/>
            <a:ext cx="19621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0D1117"/>
                </a:solidFill>
                <a:latin typeface="Bricolage Grotesque" pitchFamily="34" charset="0"/>
                <a:ea typeface="Bricolage Grotesque" pitchFamily="34" charset="-122"/>
                <a:cs typeface="Bricolage Grotesque" pitchFamily="34" charset="-120"/>
              </a:rPr>
              <a:t>Prompt</a:t>
            </a:r>
            <a:endParaRPr lang="en-US" sz="2000" dirty="0"/>
          </a:p>
        </p:txBody>
      </p:sp>
      <p:sp>
        <p:nvSpPr>
          <p:cNvPr id="16" name="Text 12"/>
          <p:cNvSpPr/>
          <p:nvPr/>
        </p:nvSpPr>
        <p:spPr>
          <a:xfrm>
            <a:off x="6527800" y="2396430"/>
            <a:ext cx="1962150" cy="71864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B4250"/>
                </a:solidFill>
                <a:latin typeface="Instrument Sans" pitchFamily="34" charset="0"/>
                <a:ea typeface="Instrument Sans" pitchFamily="34" charset="-122"/>
                <a:cs typeface="Instrument Sans" pitchFamily="34" charset="-120"/>
              </a:rPr>
              <a:t>Question + chunks + “answer only from these, cite them”</a:t>
            </a:r>
            <a:endParaRPr lang="en-US" sz="1300" dirty="0"/>
          </a:p>
        </p:txBody>
      </p:sp>
      <p:pic>
        <p:nvPicPr>
          <p:cNvPr id="17" name="Image 2" descr="connector"/>
          <p:cNvPicPr>
            <a:picLocks noChangeAspect="1"/>
          </p:cNvPicPr>
          <p:nvPr/>
        </p:nvPicPr>
        <p:blipFill>
          <a:blip r:embed="rId3"/>
          <a:srcRect/>
          <a:stretch/>
        </p:blipFill>
        <p:spPr>
          <a:xfrm>
            <a:off x="8680450" y="2369641"/>
            <a:ext cx="368300" cy="76200"/>
          </a:xfrm>
          <a:prstGeom prst="rect">
            <a:avLst/>
          </a:prstGeom>
        </p:spPr>
      </p:pic>
      <p:sp>
        <p:nvSpPr>
          <p:cNvPr id="18" name="Shape 13"/>
          <p:cNvSpPr/>
          <p:nvPr/>
        </p:nvSpPr>
        <p:spPr>
          <a:xfrm>
            <a:off x="9118600" y="1663601"/>
            <a:ext cx="2260600" cy="1488281"/>
          </a:xfrm>
          <a:prstGeom prst="roundRect">
            <a:avLst>
              <a:gd name="adj" fmla="val 10240"/>
            </a:avLst>
          </a:prstGeom>
          <a:solidFill>
            <a:srgbClr val="2A5BFF"/>
          </a:solidFill>
          <a:ln/>
        </p:spPr>
        <p:txBody>
          <a:bodyPr/>
          <a:lstStyle/>
          <a:p>
            <a:endParaRPr lang="en-MX"/>
          </a:p>
        </p:txBody>
      </p:sp>
      <p:sp>
        <p:nvSpPr>
          <p:cNvPr id="19" name="Text 14"/>
          <p:cNvSpPr/>
          <p:nvPr/>
        </p:nvSpPr>
        <p:spPr>
          <a:xfrm>
            <a:off x="9296400" y="1841401"/>
            <a:ext cx="196215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DCE5FF"/>
                </a:solidFill>
                <a:latin typeface="JetBrains Mono" pitchFamily="49" charset="0"/>
                <a:ea typeface="JetBrains Mono" pitchFamily="49" charset="-122"/>
                <a:cs typeface="JetBrains Mono" pitchFamily="49" charset="-120"/>
              </a:rPr>
              <a:t>next step</a:t>
            </a:r>
            <a:endParaRPr lang="en-US" sz="1200" dirty="0"/>
          </a:p>
        </p:txBody>
      </p:sp>
      <p:sp>
        <p:nvSpPr>
          <p:cNvPr id="20" name="Text 15"/>
          <p:cNvSpPr/>
          <p:nvPr/>
        </p:nvSpPr>
        <p:spPr>
          <a:xfrm>
            <a:off x="9296400" y="2130921"/>
            <a:ext cx="1962150" cy="330200"/>
          </a:xfrm>
          <a:prstGeom prst="rect">
            <a:avLst/>
          </a:prstGeom>
          <a:noFill/>
          <a:ln/>
        </p:spPr>
        <p:txBody>
          <a:bodyPr wrap="square" lIns="0" tIns="0" rIns="0" bIns="0" rtlCol="0" anchor="t">
            <a:normAutofit/>
          </a:bodyPr>
          <a:lstStyle/>
          <a:p>
            <a:pPr marL="0" indent="0" algn="l">
              <a:lnSpc>
                <a:spcPts val="2400"/>
              </a:lnSpc>
              <a:buNone/>
            </a:pPr>
            <a:r>
              <a:rPr lang="en-US" sz="2000" b="1" dirty="0">
                <a:solidFill>
                  <a:srgbClr val="FFFFFF"/>
                </a:solidFill>
                <a:latin typeface="Bricolage Grotesque" pitchFamily="34" charset="0"/>
                <a:ea typeface="Bricolage Grotesque" pitchFamily="34" charset="-122"/>
                <a:cs typeface="Bricolage Grotesque" pitchFamily="34" charset="-120"/>
              </a:rPr>
              <a:t>Answer</a:t>
            </a:r>
            <a:endParaRPr lang="en-US" sz="2000" dirty="0"/>
          </a:p>
        </p:txBody>
      </p:sp>
      <p:sp>
        <p:nvSpPr>
          <p:cNvPr id="21" name="Text 16"/>
          <p:cNvSpPr/>
          <p:nvPr/>
        </p:nvSpPr>
        <p:spPr>
          <a:xfrm>
            <a:off x="9296400" y="2511921"/>
            <a:ext cx="1962150" cy="487561"/>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FFFFF"/>
                </a:solidFill>
                <a:latin typeface="Instrument Sans" pitchFamily="34" charset="0"/>
                <a:ea typeface="Instrument Sans" pitchFamily="34" charset="-122"/>
                <a:cs typeface="Instrument Sans" pitchFamily="34" charset="-120"/>
              </a:rPr>
              <a:t>Written by an LLM, with links to the guides it used</a:t>
            </a:r>
            <a:endParaRPr lang="en-US" sz="1300" dirty="0"/>
          </a:p>
        </p:txBody>
      </p:sp>
      <p:sp>
        <p:nvSpPr>
          <p:cNvPr id="22" name="Shape 17"/>
          <p:cNvSpPr/>
          <p:nvPr/>
        </p:nvSpPr>
        <p:spPr>
          <a:xfrm>
            <a:off x="812800" y="3496072"/>
            <a:ext cx="10566400" cy="1330920"/>
          </a:xfrm>
          <a:prstGeom prst="roundRect">
            <a:avLst>
              <a:gd name="adj" fmla="val 11451"/>
            </a:avLst>
          </a:prstGeom>
          <a:solidFill>
            <a:srgbClr val="0D1117"/>
          </a:solidFill>
          <a:ln/>
        </p:spPr>
        <p:txBody>
          <a:bodyPr/>
          <a:lstStyle/>
          <a:p>
            <a:endParaRPr lang="en-MX"/>
          </a:p>
        </p:txBody>
      </p:sp>
      <p:sp>
        <p:nvSpPr>
          <p:cNvPr id="23" name="Text 18"/>
          <p:cNvSpPr/>
          <p:nvPr/>
        </p:nvSpPr>
        <p:spPr>
          <a:xfrm>
            <a:off x="1041400" y="3673872"/>
            <a:ext cx="10412476"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9AA3B2"/>
                </a:solidFill>
                <a:latin typeface="JetBrains Mono" pitchFamily="49" charset="0"/>
                <a:ea typeface="JetBrains Mono" pitchFamily="49" charset="-122"/>
                <a:cs typeface="JetBrains Mono" pitchFamily="49" charset="-120"/>
              </a:rPr>
              <a:t>the generation step, e.g. with RubyLLM</a:t>
            </a:r>
            <a:endParaRPr lang="en-US" sz="1200" dirty="0"/>
          </a:p>
        </p:txBody>
      </p:sp>
      <p:sp>
        <p:nvSpPr>
          <p:cNvPr id="24" name="Text 19"/>
          <p:cNvSpPr/>
          <p:nvPr/>
        </p:nvSpPr>
        <p:spPr>
          <a:xfrm>
            <a:off x="1041400" y="3963392"/>
            <a:ext cx="10412476" cy="711200"/>
          </a:xfrm>
          <a:prstGeom prst="rect">
            <a:avLst/>
          </a:prstGeom>
          <a:noFill/>
          <a:ln/>
        </p:spPr>
        <p:txBody>
          <a:bodyPr wrap="square" lIns="0" tIns="0" rIns="0" bIns="0" rtlCol="0" anchor="t">
            <a:normAutofit/>
          </a:bodyPr>
          <a:lstStyle/>
          <a:p>
            <a:pPr marL="0" indent="0" algn="l">
              <a:lnSpc>
                <a:spcPts val="1800"/>
              </a:lnSpc>
              <a:buNone/>
            </a:pPr>
            <a:r>
              <a:rPr lang="en-US" sz="1200" dirty="0">
                <a:solidFill>
                  <a:srgbClr val="F2F4F7"/>
                </a:solidFill>
                <a:latin typeface="JetBrains Mono" pitchFamily="49" charset="0"/>
                <a:ea typeface="JetBrains Mono" pitchFamily="49" charset="-122"/>
                <a:cs typeface="JetBrains Mono" pitchFamily="49" charset="-120"/>
              </a:rPr>
              <a:t>chunks  = Chunk.semantic_search(question, limit: 5)</a:t>
            </a:r>
            <a:endParaRPr lang="en-US" sz="1200" dirty="0"/>
          </a:p>
          <a:p>
            <a:pPr marL="0" indent="0" algn="l">
              <a:lnSpc>
                <a:spcPts val="1800"/>
              </a:lnSpc>
              <a:buNone/>
            </a:pPr>
            <a:r>
              <a:rPr lang="en-US" sz="1200" dirty="0">
                <a:solidFill>
                  <a:srgbClr val="F2F4F7"/>
                </a:solidFill>
                <a:latin typeface="JetBrains Mono" pitchFamily="49" charset="0"/>
                <a:ea typeface="JetBrains Mono" pitchFamily="49" charset="-122"/>
                <a:cs typeface="JetBrains Mono" pitchFamily="49" charset="-120"/>
              </a:rPr>
              <a:t>context = chunks.map { |c| </a:t>
            </a:r>
            <a:r>
              <a:rPr lang="en-US" sz="1200" dirty="0">
                <a:solidFill>
                  <a:srgbClr val="6FD6C4"/>
                </a:solidFill>
                <a:latin typeface="JetBrains Mono" pitchFamily="49" charset="0"/>
                <a:ea typeface="JetBrains Mono" pitchFamily="49" charset="-122"/>
                <a:cs typeface="JetBrains Mono" pitchFamily="49" charset="-120"/>
              </a:rPr>
              <a:t>"[#{c.citation}] #{c.body}"</a:t>
            </a:r>
            <a:r>
              <a:rPr lang="en-US" sz="1200" dirty="0">
                <a:solidFill>
                  <a:srgbClr val="F2F4F7"/>
                </a:solidFill>
                <a:latin typeface="JetBrains Mono" pitchFamily="49" charset="0"/>
                <a:ea typeface="JetBrains Mono" pitchFamily="49" charset="-122"/>
                <a:cs typeface="JetBrains Mono" pitchFamily="49" charset="-120"/>
              </a:rPr>
              <a:t> }.join(</a:t>
            </a:r>
            <a:r>
              <a:rPr lang="en-US" sz="1200" dirty="0">
                <a:solidFill>
                  <a:srgbClr val="6FD6C4"/>
                </a:solidFill>
                <a:latin typeface="JetBrains Mono" pitchFamily="49" charset="0"/>
                <a:ea typeface="JetBrains Mono" pitchFamily="49" charset="-122"/>
                <a:cs typeface="JetBrains Mono" pitchFamily="49" charset="-120"/>
              </a:rPr>
              <a:t>"\n\n"</a:t>
            </a:r>
            <a:r>
              <a:rPr lang="en-US" sz="1200" dirty="0">
                <a:solidFill>
                  <a:srgbClr val="F2F4F7"/>
                </a:solidFill>
                <a:latin typeface="JetBrains Mono" pitchFamily="49" charset="0"/>
                <a:ea typeface="JetBrains Mono" pitchFamily="49" charset="-122"/>
                <a:cs typeface="JetBrains Mono" pitchFamily="49" charset="-120"/>
              </a:rPr>
              <a:t>)</a:t>
            </a:r>
            <a:endParaRPr lang="en-US" sz="1200" dirty="0"/>
          </a:p>
          <a:p>
            <a:pPr marL="0" indent="0" algn="l">
              <a:lnSpc>
                <a:spcPts val="1800"/>
              </a:lnSpc>
              <a:buNone/>
            </a:pPr>
            <a:r>
              <a:rPr lang="en-US" sz="1200" dirty="0">
                <a:solidFill>
                  <a:srgbClr val="F2F4F7"/>
                </a:solidFill>
                <a:latin typeface="JetBrains Mono" pitchFamily="49" charset="0"/>
                <a:ea typeface="JetBrains Mono" pitchFamily="49" charset="-122"/>
                <a:cs typeface="JetBrains Mono" pitchFamily="49" charset="-120"/>
              </a:rPr>
              <a:t>RubyLLM.chat.ask(</a:t>
            </a:r>
            <a:r>
              <a:rPr lang="en-US" sz="1200" dirty="0">
                <a:solidFill>
                  <a:srgbClr val="6FD6C4"/>
                </a:solidFill>
                <a:latin typeface="JetBrains Mono" pitchFamily="49" charset="0"/>
                <a:ea typeface="JetBrains Mono" pitchFamily="49" charset="-122"/>
                <a:cs typeface="JetBrains Mono" pitchFamily="49" charset="-120"/>
              </a:rPr>
              <a:t>"Answer using only these passages and cite them.\n\n#{context}\n\nQuestion: #{question}"</a:t>
            </a:r>
            <a:r>
              <a:rPr lang="en-US" sz="1200" dirty="0">
                <a:solidFill>
                  <a:srgbClr val="F2F4F7"/>
                </a:solidFill>
                <a:latin typeface="JetBrains Mono" pitchFamily="49" charset="0"/>
                <a:ea typeface="JetBrains Mono" pitchFamily="49" charset="-122"/>
                <a:cs typeface="JetBrains Mono" pitchFamily="49" charset="-120"/>
              </a:rPr>
              <a:t>)</a:t>
            </a:r>
            <a:endParaRPr lang="en-US" sz="1200" dirty="0"/>
          </a:p>
        </p:txBody>
      </p:sp>
      <p:sp>
        <p:nvSpPr>
          <p:cNvPr id="25" name="Text 20"/>
          <p:cNvSpPr/>
          <p:nvPr/>
        </p:nvSpPr>
        <p:spPr>
          <a:xfrm>
            <a:off x="812800" y="5055592"/>
            <a:ext cx="10883392" cy="309860"/>
          </a:xfrm>
          <a:prstGeom prst="rect">
            <a:avLst/>
          </a:prstGeom>
          <a:noFill/>
          <a:ln/>
        </p:spPr>
        <p:txBody>
          <a:bodyPr wrap="square" lIns="0" tIns="0" rIns="0" bIns="0" rtlCol="0" anchor="t">
            <a:normAutofit/>
          </a:bodyPr>
          <a:lstStyle/>
          <a:p>
            <a:pPr marL="0" indent="0" algn="l">
              <a:lnSpc>
                <a:spcPts val="2240"/>
              </a:lnSpc>
              <a:buNone/>
            </a:pPr>
            <a:r>
              <a:rPr lang="en-US" sz="1600" b="1" dirty="0">
                <a:solidFill>
                  <a:srgbClr val="0D1117"/>
                </a:solidFill>
                <a:latin typeface="Instrument Sans" pitchFamily="34" charset="0"/>
                <a:ea typeface="Instrument Sans" pitchFamily="34" charset="-122"/>
                <a:cs typeface="Instrument Sans" pitchFamily="34" charset="-120"/>
              </a:rPr>
              <a:t>The LLM can only be as good as what you retrieve.</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532110"/>
          </a:xfrm>
          <a:prstGeom prst="rect">
            <a:avLst/>
          </a:prstGeom>
          <a:noFill/>
          <a:ln/>
        </p:spPr>
        <p:txBody>
          <a:bodyPr wrap="square" lIns="0" tIns="0" rIns="0" bIns="0" rtlCol="0" anchor="t">
            <a:normAutofit/>
          </a:bodyPr>
          <a:lstStyle/>
          <a:p>
            <a:pPr marL="0" indent="0" algn="l">
              <a:lnSpc>
                <a:spcPts val="3990"/>
              </a:lnSpc>
              <a:buNone/>
            </a:pPr>
            <a:r>
              <a:rPr lang="en-US" sz="3800" b="1" i="0" kern="0" spc="-75" dirty="0">
                <a:solidFill>
                  <a:srgbClr val="0D1117"/>
                </a:solidFill>
                <a:latin typeface="Bricolage Grotesque" pitchFamily="34" charset="0"/>
                <a:ea typeface="Bricolage Grotesque" pitchFamily="34" charset="-122"/>
                <a:cs typeface="Bricolage Grotesque" pitchFamily="34" charset="-120"/>
              </a:rPr>
              <a:t>What to take home</a:t>
            </a:r>
            <a:endParaRPr lang="en-US" sz="3800" dirty="0"/>
          </a:p>
        </p:txBody>
      </p:sp>
      <p:sp>
        <p:nvSpPr>
          <p:cNvPr id="3" name="Text 1"/>
          <p:cNvSpPr/>
          <p:nvPr/>
        </p:nvSpPr>
        <p:spPr>
          <a:xfrm>
            <a:off x="812800" y="1624310"/>
            <a:ext cx="10566400" cy="1587500"/>
          </a:xfrm>
          <a:prstGeom prst="roundRect">
            <a:avLst>
              <a:gd name="adj" fmla="val 11200"/>
            </a:avLst>
          </a:prstGeom>
          <a:solidFill>
            <a:srgbClr val="0D1117"/>
          </a:solidFill>
          <a:ln/>
        </p:spPr>
        <p:txBody>
          <a:bodyPr wrap="square" lIns="303524" tIns="303524" rIns="7868" bIns="278124" rtlCol="0" anchor="t">
            <a:normAutofit/>
          </a:bodyPr>
          <a:lstStyle/>
          <a:p>
            <a:pPr marL="0" indent="0" algn="l">
              <a:lnSpc>
                <a:spcPts val="3450"/>
              </a:lnSpc>
              <a:buNone/>
            </a:pPr>
            <a:r>
              <a:rPr lang="en-US" sz="3000" b="1" kern="0" spc="-30" dirty="0">
                <a:solidFill>
                  <a:srgbClr val="F2F4F7"/>
                </a:solidFill>
                <a:latin typeface="Bricolage Grotesque" pitchFamily="34" charset="0"/>
                <a:ea typeface="Bricolage Grotesque" pitchFamily="34" charset="-122"/>
                <a:cs typeface="Bricolage Grotesque" pitchFamily="34" charset="-120"/>
              </a:rPr>
              <a:t>It’s just Postgres: a vector column, the neighbor gem and a local model.</a:t>
            </a:r>
            <a:endParaRPr lang="en-US" sz="3000" dirty="0"/>
          </a:p>
        </p:txBody>
      </p:sp>
      <p:sp>
        <p:nvSpPr>
          <p:cNvPr id="4" name="Shape 2"/>
          <p:cNvSpPr/>
          <p:nvPr/>
        </p:nvSpPr>
        <p:spPr>
          <a:xfrm>
            <a:off x="812800" y="3516610"/>
            <a:ext cx="5207000" cy="1391841"/>
          </a:xfrm>
          <a:prstGeom prst="roundRect">
            <a:avLst>
              <a:gd name="adj" fmla="val 12774"/>
            </a:avLst>
          </a:prstGeom>
          <a:solidFill>
            <a:srgbClr val="FFFFFF"/>
          </a:solidFill>
          <a:ln/>
        </p:spPr>
        <p:txBody>
          <a:bodyPr/>
          <a:lstStyle/>
          <a:p>
            <a:endParaRPr lang="en-MX"/>
          </a:p>
        </p:txBody>
      </p:sp>
      <p:sp>
        <p:nvSpPr>
          <p:cNvPr id="5" name="Text 3"/>
          <p:cNvSpPr/>
          <p:nvPr/>
        </p:nvSpPr>
        <p:spPr>
          <a:xfrm>
            <a:off x="1066800" y="3770610"/>
            <a:ext cx="4839970"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0D1117"/>
                </a:solidFill>
                <a:latin typeface="Bricolage Grotesque" pitchFamily="34" charset="0"/>
                <a:ea typeface="Bricolage Grotesque" pitchFamily="34" charset="-122"/>
                <a:cs typeface="Bricolage Grotesque" pitchFamily="34" charset="-120"/>
              </a:rPr>
              <a:t>Settings are product decisions</a:t>
            </a:r>
            <a:endParaRPr lang="en-US" sz="2000" dirty="0"/>
          </a:p>
        </p:txBody>
      </p:sp>
      <p:sp>
        <p:nvSpPr>
          <p:cNvPr id="6" name="Text 4"/>
          <p:cNvSpPr/>
          <p:nvPr/>
        </p:nvSpPr>
        <p:spPr>
          <a:xfrm>
            <a:off x="1066800" y="4138910"/>
            <a:ext cx="4839970"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B4250"/>
                </a:solidFill>
                <a:latin typeface="Instrument Sans" pitchFamily="34" charset="0"/>
                <a:ea typeface="Instrument Sans" pitchFamily="34" charset="-122"/>
                <a:cs typeface="Instrument Sans" pitchFamily="34" charset="-120"/>
              </a:rPr>
              <a:t>Chunk size and the cutoff change which answers people get.</a:t>
            </a:r>
            <a:endParaRPr lang="en-US" sz="1400" dirty="0"/>
          </a:p>
        </p:txBody>
      </p:sp>
      <p:sp>
        <p:nvSpPr>
          <p:cNvPr id="7" name="Shape 5"/>
          <p:cNvSpPr/>
          <p:nvPr/>
        </p:nvSpPr>
        <p:spPr>
          <a:xfrm>
            <a:off x="6172200" y="3516610"/>
            <a:ext cx="5207000" cy="1391841"/>
          </a:xfrm>
          <a:prstGeom prst="roundRect">
            <a:avLst>
              <a:gd name="adj" fmla="val 12774"/>
            </a:avLst>
          </a:prstGeom>
          <a:solidFill>
            <a:srgbClr val="FFFFFF"/>
          </a:solidFill>
          <a:ln/>
        </p:spPr>
        <p:txBody>
          <a:bodyPr/>
          <a:lstStyle/>
          <a:p>
            <a:endParaRPr lang="en-MX"/>
          </a:p>
        </p:txBody>
      </p:sp>
      <p:sp>
        <p:nvSpPr>
          <p:cNvPr id="8" name="Text 6"/>
          <p:cNvSpPr/>
          <p:nvPr/>
        </p:nvSpPr>
        <p:spPr>
          <a:xfrm>
            <a:off x="6426200" y="3770610"/>
            <a:ext cx="4839970" cy="317500"/>
          </a:xfrm>
          <a:prstGeom prst="rect">
            <a:avLst/>
          </a:prstGeom>
          <a:noFill/>
          <a:ln/>
        </p:spPr>
        <p:txBody>
          <a:bodyPr wrap="square" lIns="0" tIns="0" rIns="0" bIns="0" rtlCol="0" anchor="t">
            <a:normAutofit/>
          </a:bodyPr>
          <a:lstStyle/>
          <a:p>
            <a:pPr marL="0" indent="0" algn="l">
              <a:lnSpc>
                <a:spcPts val="2300"/>
              </a:lnSpc>
              <a:buNone/>
            </a:pPr>
            <a:r>
              <a:rPr lang="en-US" sz="2000" b="1" dirty="0">
                <a:solidFill>
                  <a:srgbClr val="0D1117"/>
                </a:solidFill>
                <a:latin typeface="Bricolage Grotesque" pitchFamily="34" charset="0"/>
                <a:ea typeface="Bricolage Grotesque" pitchFamily="34" charset="-122"/>
                <a:cs typeface="Bricolage Grotesque" pitchFamily="34" charset="-120"/>
              </a:rPr>
              <a:t>Retrieval gets a test</a:t>
            </a:r>
            <a:endParaRPr lang="en-US" sz="2000" dirty="0"/>
          </a:p>
        </p:txBody>
      </p:sp>
      <p:sp>
        <p:nvSpPr>
          <p:cNvPr id="9" name="Text 7"/>
          <p:cNvSpPr/>
          <p:nvPr/>
        </p:nvSpPr>
        <p:spPr>
          <a:xfrm>
            <a:off x="6426200" y="4138910"/>
            <a:ext cx="4839970" cy="283170"/>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3B4250"/>
                </a:solidFill>
                <a:latin typeface="Instrument Sans" pitchFamily="34" charset="0"/>
                <a:ea typeface="Instrument Sans" pitchFamily="34" charset="-122"/>
                <a:cs typeface="Instrument Sans" pitchFamily="34" charset="-120"/>
              </a:rPr>
              <a:t>A golden set turns “feels better” into a pass or a fail.</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812800"/>
            <a:ext cx="10883392" cy="1041400"/>
          </a:xfrm>
          <a:prstGeom prst="rect">
            <a:avLst/>
          </a:prstGeom>
          <a:noFill/>
          <a:ln/>
        </p:spPr>
        <p:txBody>
          <a:bodyPr wrap="square" lIns="0" tIns="0" rIns="0" bIns="0" rtlCol="0" anchor="t">
            <a:normAutofit/>
          </a:bodyPr>
          <a:lstStyle/>
          <a:p>
            <a:pPr marL="0" indent="0" algn="l">
              <a:lnSpc>
                <a:spcPts val="8000"/>
              </a:lnSpc>
              <a:buNone/>
            </a:pPr>
            <a:r>
              <a:rPr lang="en-US" sz="8000" b="1" i="0" kern="0" spc="-160" dirty="0">
                <a:solidFill>
                  <a:srgbClr val="F2F4F7"/>
                </a:solidFill>
                <a:latin typeface="Bricolage Grotesque" pitchFamily="34" charset="0"/>
                <a:ea typeface="Bricolage Grotesque" pitchFamily="34" charset="-122"/>
                <a:cs typeface="Bricolage Grotesque" pitchFamily="34" charset="-120"/>
              </a:rPr>
              <a:t>Questions</a:t>
            </a:r>
            <a:endParaRPr lang="en-US" sz="8000" dirty="0"/>
          </a:p>
        </p:txBody>
      </p:sp>
      <p:sp>
        <p:nvSpPr>
          <p:cNvPr id="3" name="Text 1"/>
          <p:cNvSpPr/>
          <p:nvPr/>
        </p:nvSpPr>
        <p:spPr>
          <a:xfrm>
            <a:off x="812800" y="5456039"/>
            <a:ext cx="6540500" cy="614561"/>
          </a:xfrm>
          <a:prstGeom prst="rect">
            <a:avLst/>
          </a:prstGeom>
          <a:noFill/>
          <a:ln/>
        </p:spPr>
        <p:txBody>
          <a:bodyPr wrap="square" lIns="0" tIns="0" rIns="0" bIns="0" rtlCol="0" anchor="t">
            <a:normAutofit/>
          </a:bodyPr>
          <a:lstStyle/>
          <a:p>
            <a:pPr marL="0" indent="0" algn="l">
              <a:lnSpc>
                <a:spcPts val="2320"/>
              </a:lnSpc>
              <a:buNone/>
            </a:pPr>
            <a:endParaRPr lang="en-US" sz="1600" dirty="0"/>
          </a:p>
        </p:txBody>
      </p:sp>
      <p:sp>
        <p:nvSpPr>
          <p:cNvPr id="4" name="Text 2"/>
          <p:cNvSpPr/>
          <p:nvPr/>
        </p:nvSpPr>
        <p:spPr>
          <a:xfrm>
            <a:off x="5642919" y="5610920"/>
            <a:ext cx="5736281" cy="434280"/>
          </a:xfrm>
          <a:prstGeom prst="roundRect">
            <a:avLst>
              <a:gd name="adj" fmla="val 20471"/>
            </a:avLst>
          </a:prstGeom>
          <a:solidFill>
            <a:srgbClr val="7DA2FF"/>
          </a:solidFill>
          <a:ln/>
        </p:spPr>
        <p:txBody>
          <a:bodyPr wrap="none" lIns="0" tIns="0" rIns="0" bIns="0" rtlCol="0" anchor="ctr">
            <a:normAutofit/>
          </a:bodyPr>
          <a:lstStyle/>
          <a:p>
            <a:pPr algn="ctr">
              <a:lnSpc>
                <a:spcPts val="1820"/>
              </a:lnSpc>
            </a:pPr>
            <a:r>
              <a:rPr lang="en-US" sz="1300" dirty="0">
                <a:solidFill>
                  <a:srgbClr val="0D1117"/>
                </a:solidFill>
                <a:latin typeface="JetBrains Mono" pitchFamily="49" charset="0"/>
                <a:ea typeface="JetBrains Mono" pitchFamily="49" charset="-122"/>
                <a:cs typeface="JetBrains Mono" pitchFamily="49" charset="-120"/>
              </a:rPr>
              <a:t>Repo link: https://github.com/</a:t>
            </a:r>
            <a:r>
              <a:rPr lang="en-US" sz="1300" dirty="0" err="1">
                <a:solidFill>
                  <a:srgbClr val="0D1117"/>
                </a:solidFill>
                <a:latin typeface="JetBrains Mono" pitchFamily="49" charset="0"/>
                <a:ea typeface="JetBrains Mono" pitchFamily="49" charset="-122"/>
                <a:cs typeface="JetBrains Mono" pitchFamily="49" charset="-120"/>
              </a:rPr>
              <a:t>AAlvAAro</a:t>
            </a:r>
            <a:r>
              <a:rPr lang="en-US" sz="1300" dirty="0">
                <a:solidFill>
                  <a:srgbClr val="0D1117"/>
                </a:solidFill>
                <a:latin typeface="JetBrains Mono" pitchFamily="49" charset="0"/>
                <a:ea typeface="JetBrains Mono" pitchFamily="49" charset="-122"/>
                <a:cs typeface="JetBrains Mono" pitchFamily="49" charset="-120"/>
              </a:rPr>
              <a:t>/</a:t>
            </a:r>
            <a:r>
              <a:rPr lang="en-US" sz="1300" dirty="0" err="1">
                <a:solidFill>
                  <a:srgbClr val="0D1117"/>
                </a:solidFill>
                <a:latin typeface="JetBrains Mono" pitchFamily="49" charset="0"/>
                <a:ea typeface="JetBrains Mono" pitchFamily="49" charset="-122"/>
                <a:cs typeface="JetBrains Mono" pitchFamily="49" charset="-120"/>
              </a:rPr>
              <a:t>semantic_search</a:t>
            </a:r>
            <a:endParaRPr lang="en-US" sz="1300" dirty="0"/>
          </a:p>
        </p:txBody>
      </p:sp>
    </p:spTree>
  </p:cSld>
  <p:clrMapOvr>
    <a:masterClrMapping/>
  </p:clrMapOvr>
</p:sld>
</file>

<file path=ppt/theme/theme1.xml><?xml version="1.0" encoding="utf-8"?>
<a:theme xmlns:a="http://schemas.openxmlformats.org/drawingml/2006/main" name="Semantic Search in Rails">
  <a:themeElements>
    <a:clrScheme name="Semantic Search in Rails">
      <a:dk1>
        <a:srgbClr val="0D1117"/>
      </a:dk1>
      <a:lt1>
        <a:srgbClr val="F5F6F8"/>
      </a:lt1>
      <a:dk2>
        <a:srgbClr val="474A4F"/>
      </a:dk2>
      <a:lt2>
        <a:srgbClr val="DEDFE2"/>
      </a:lt2>
      <a:accent1>
        <a:srgbClr val="2A5BFF"/>
      </a:accent1>
      <a:accent2>
        <a:srgbClr val="7DA2FF"/>
      </a:accent2>
      <a:accent3>
        <a:srgbClr val="E5492B"/>
      </a:accent3>
      <a:accent4>
        <a:srgbClr val="F5A524"/>
      </a:accent4>
      <a:accent5>
        <a:srgbClr val="C98200"/>
      </a:accent5>
      <a:accent6>
        <a:srgbClr val="0E8A7C"/>
      </a:accent6>
      <a:hlink>
        <a:srgbClr val="0563C1"/>
      </a:hlink>
      <a:folHlink>
        <a:srgbClr val="954F72"/>
      </a:folHlink>
    </a:clrScheme>
    <a:fontScheme name="Semantic Search in Rails">
      <a:majorFont>
        <a:latin typeface="Bricolage Grotesqu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strument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3062</Words>
  <Application>Microsoft Macintosh PowerPoint</Application>
  <PresentationFormat>Widescreen</PresentationFormat>
  <Paragraphs>204</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Bricolage Grotesque</vt:lpstr>
      <vt:lpstr>Arial</vt:lpstr>
      <vt:lpstr>JetBrains Mono</vt:lpstr>
      <vt:lpstr>Instrument Sans</vt:lpstr>
      <vt:lpstr>Semantic Search in Rails</vt:lpstr>
      <vt:lpstr>Semantic Search in Rails</vt:lpstr>
      <vt:lpstr>Nobody asks in the Guides’ own words</vt:lpstr>
      <vt:lpstr>An embedding is a point on a map</vt:lpstr>
      <vt:lpstr>Close in meaning, high score</vt:lpstr>
      <vt:lpstr>The vector is just a column</vt:lpstr>
      <vt:lpstr>Four steps from markdown to search</vt:lpstr>
      <vt:lpstr>How you cut the text matters</vt:lpstr>
      <vt:lpstr>Three ways to search the same table</vt:lpstr>
      <vt:lpstr>The three searches in code</vt:lpstr>
      <vt:lpstr>Ask the Rails Guides</vt:lpstr>
      <vt:lpstr>Vector search always answers. A cutoff lets it say “not in the Guides.”</vt:lpstr>
      <vt:lpstr>Test retrieval like any other code</vt:lpstr>
      <vt:lpstr>From search to RAG: add one step</vt:lpstr>
      <vt:lpstr>What to take home</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Semantic Search in Rails</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Instrument Sans
Copyright 2022 The Instrument Sans Project Authors (https://github.com/Instrument/instrument-sans)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Bricolage Grotesque
Copyright 2022 The Bricolage Grotesque Project Authors (https://github.com/ateliertriay/bricolage)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Alvaro Antonio Delgado Covarrubias</cp:lastModifiedBy>
  <cp:revision>2</cp:revision>
  <dcterms:created xsi:type="dcterms:W3CDTF">2026-10-28T18:53:19Z</dcterms:created>
  <dcterms:modified xsi:type="dcterms:W3CDTF">2026-10-28T19:00:52Z</dcterms:modified>
</cp:coreProperties>
</file>